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</p:sldIdLst>
  <p:sldSz cy="6858000" cx="9144000"/>
  <p:notesSz cx="6858000" cy="9144000"/>
  <p:embeddedFontLst>
    <p:embeddedFont>
      <p:font typeface="Libre Franklin"/>
      <p:regular r:id="rId80"/>
      <p:bold r:id="rId81"/>
      <p:italic r:id="rId82"/>
      <p:boldItalic r:id="rId83"/>
    </p:embeddedFont>
    <p:embeddedFont>
      <p:font typeface="Libre Baskerville"/>
      <p:regular r:id="rId84"/>
      <p:bold r:id="rId85"/>
      <p:italic r:id="rId86"/>
      <p:boldItalic r:id="rId8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88" roundtripDataSignature="AMtx7mhEM0xOZFAdHYV81XwotkSMmi+k8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4" Type="http://schemas.openxmlformats.org/officeDocument/2006/relationships/font" Target="fonts/LibreBaskerville-regular.fntdata"/><Relationship Id="rId83" Type="http://schemas.openxmlformats.org/officeDocument/2006/relationships/font" Target="fonts/LibreFranklin-boldItalic.fntdata"/><Relationship Id="rId42" Type="http://schemas.openxmlformats.org/officeDocument/2006/relationships/slide" Target="slides/slide36.xml"/><Relationship Id="rId86" Type="http://schemas.openxmlformats.org/officeDocument/2006/relationships/font" Target="fonts/LibreBaskerville-italic.fntdata"/><Relationship Id="rId41" Type="http://schemas.openxmlformats.org/officeDocument/2006/relationships/slide" Target="slides/slide35.xml"/><Relationship Id="rId85" Type="http://schemas.openxmlformats.org/officeDocument/2006/relationships/font" Target="fonts/LibreBaskerville-bold.fntdata"/><Relationship Id="rId44" Type="http://schemas.openxmlformats.org/officeDocument/2006/relationships/slide" Target="slides/slide38.xml"/><Relationship Id="rId88" Type="http://customschemas.google.com/relationships/presentationmetadata" Target="metadata"/><Relationship Id="rId43" Type="http://schemas.openxmlformats.org/officeDocument/2006/relationships/slide" Target="slides/slide37.xml"/><Relationship Id="rId87" Type="http://schemas.openxmlformats.org/officeDocument/2006/relationships/font" Target="fonts/LibreBaskerville-boldItalic.fntdata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schemas.openxmlformats.org/officeDocument/2006/relationships/font" Target="fonts/LibreFranklin-regular.fntdata"/><Relationship Id="rId82" Type="http://schemas.openxmlformats.org/officeDocument/2006/relationships/font" Target="fonts/LibreFranklin-italic.fntdata"/><Relationship Id="rId81" Type="http://schemas.openxmlformats.org/officeDocument/2006/relationships/font" Target="fonts/LibreFranklin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slide" Target="slides/slide71.xml"/><Relationship Id="rId32" Type="http://schemas.openxmlformats.org/officeDocument/2006/relationships/slide" Target="slides/slide26.xml"/><Relationship Id="rId76" Type="http://schemas.openxmlformats.org/officeDocument/2006/relationships/slide" Target="slides/slide70.xml"/><Relationship Id="rId35" Type="http://schemas.openxmlformats.org/officeDocument/2006/relationships/slide" Target="slides/slide29.xml"/><Relationship Id="rId79" Type="http://schemas.openxmlformats.org/officeDocument/2006/relationships/slide" Target="slides/slide73.xml"/><Relationship Id="rId34" Type="http://schemas.openxmlformats.org/officeDocument/2006/relationships/slide" Target="slides/slide28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aa05d731d5_3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g2aa05d731d5_3_2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aa05d731d5_3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g2aa05d731d5_3_2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aa05d731d5_3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1" name="Google Shape;211;g2aa05d731d5_3_2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aa05d731d5_3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g2aa05d731d5_3_2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aa05d731d5_3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7" name="Google Shape;227;g2aa05d731d5_3_2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aa05d731d5_3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5" name="Google Shape;235;g2aa05d731d5_3_2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aa05d731d5_3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1" name="Google Shape;241;g2aa05d731d5_3_2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aa05d731d5_3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7" name="Google Shape;247;g2aa05d731d5_3_2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aa05d731d5_3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3" name="Google Shape;253;g2aa05d731d5_3_3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aa05d731d5_3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9" name="Google Shape;259;g2aa05d731d5_3_3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aa05d731d5_3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7" name="Google Shape;267;g2aa05d731d5_3_3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aa05d731d5_3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3" name="Google Shape;273;g2aa05d731d5_3_3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aa05d731d5_3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9" name="Google Shape;279;g2aa05d731d5_3_3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aa05d731d5_3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7" name="Google Shape;287;g2aa05d731d5_3_3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aa05d731d5_3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3" name="Google Shape;293;g2aa05d731d5_3_3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aa05d731d5_3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0" name="Google Shape;300;g2aa05d731d5_3_3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aa05d731d5_3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6" name="Google Shape;306;g2aa05d731d5_3_3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aa05d731d5_3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2" name="Google Shape;312;g2aa05d731d5_3_3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aa05d731d5_3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8" name="Google Shape;318;g2aa05d731d5_3_3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6cca1adf1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4" name="Google Shape;324;g36cca1adf1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2aa05d731d5_3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4" name="Google Shape;334;g2aa05d731d5_3_3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aa05d731d5_3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3" name="Google Shape;343;g2aa05d731d5_3_3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aa05d731d5_3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9" name="Google Shape;349;g2aa05d731d5_3_3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2aa05d731d5_3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5" name="Google Shape;355;g2aa05d731d5_3_3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aa05d731d5_3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1" name="Google Shape;361;g2aa05d731d5_3_3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2aa05d731d5_3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7" name="Google Shape;367;g2aa05d731d5_3_3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aa05d731d5_3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3" name="Google Shape;373;g2aa05d731d5_3_3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2aa05d731d5_3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9" name="Google Shape;379;g2aa05d731d5_3_3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5" name="Google Shape;38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1" name="Google Shape;3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7" name="Google Shape;3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3" name="Google Shape;4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0" name="Google Shape;41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8" name="Google Shape;41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5" name="Google Shape;42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1" name="Google Shape;43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7" name="Google Shape;43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3" name="Google Shape;44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1" name="Google Shape;45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7" name="Google Shape;45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3" name="Google Shape;46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9" name="Google Shape;46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5" name="Google Shape;47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1" name="Google Shape;48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7" name="Google Shape;48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4" name="Google Shape;49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0" name="Google Shape;50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6" name="Google Shape;506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2" name="Google Shape;512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8" name="Google Shape;518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4" name="Google Shape;524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0" name="Google Shape;530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6" name="Google Shape;536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2" name="Google Shape;542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9" name="Google Shape;549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5" name="Google Shape;555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1" name="Google Shape;561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8" name="Google Shape;568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4" name="Google Shape;574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0" name="Google Shape;580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6" name="Google Shape;586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2" name="Google Shape;592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8" name="Google Shape;598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4" name="Google Shape;604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0" name="Google Shape;610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6" name="Google Shape;616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2" name="Google Shape;622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8" name="Google Shape;628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5" name="Google Shape;635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1" name="Google Shape;641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7" name="Google Shape;647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3" name="Google Shape;653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9" name="Google Shape;659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showMasterSp="0" type="title">
  <p:cSld name="TITLE">
    <p:bg>
      <p:bgPr>
        <a:blipFill rotWithShape="1">
          <a:blip r:embed="rId2">
            <a:alphaModFix/>
          </a:blip>
          <a:tile algn="tl" flip="none" tx="0" sx="54997" ty="0" sy="54997"/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2aa05d731d5_3_41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5" name="Google Shape;15;g2aa05d731d5_3_412"/>
          <p:cNvSpPr/>
          <p:nvPr/>
        </p:nvSpPr>
        <p:spPr>
          <a:xfrm>
            <a:off x="65313" y="69755"/>
            <a:ext cx="9013500" cy="6692100"/>
          </a:xfrm>
          <a:prstGeom prst="roundRect">
            <a:avLst>
              <a:gd fmla="val 4929" name="adj"/>
            </a:avLst>
          </a:prstGeom>
          <a:blipFill rotWithShape="1">
            <a:blip r:embed="rId2">
              <a:alphaModFix/>
            </a:blip>
            <a:tile algn="tl" flip="none" tx="0" sx="54997" ty="0" sy="54997"/>
          </a:blip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6" name="Google Shape;16;g2aa05d731d5_3_412"/>
          <p:cNvSpPr txBox="1"/>
          <p:nvPr>
            <p:ph idx="1" type="subTitle"/>
          </p:nvPr>
        </p:nvSpPr>
        <p:spPr>
          <a:xfrm>
            <a:off x="1295400" y="3200400"/>
            <a:ext cx="6400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  <a:defRPr sz="2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None/>
              <a:defRPr/>
            </a:lvl3pPr>
            <a:lvl4pPr lvl="3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None/>
              <a:defRPr/>
            </a:lvl4pPr>
            <a:lvl5pPr lvl="4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7" name="Google Shape;17;g2aa05d731d5_3_412"/>
          <p:cNvSpPr txBox="1"/>
          <p:nvPr>
            <p:ph idx="10" type="dt"/>
          </p:nvPr>
        </p:nvSpPr>
        <p:spPr>
          <a:xfrm>
            <a:off x="6172200" y="6191250"/>
            <a:ext cx="2476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g2aa05d731d5_3_412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2aa05d731d5_3_412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0" name="Google Shape;20;g2aa05d731d5_3_412"/>
          <p:cNvSpPr/>
          <p:nvPr/>
        </p:nvSpPr>
        <p:spPr>
          <a:xfrm>
            <a:off x="62931" y="1449303"/>
            <a:ext cx="9021600" cy="152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1" name="Google Shape;21;g2aa05d731d5_3_412"/>
          <p:cNvSpPr/>
          <p:nvPr/>
        </p:nvSpPr>
        <p:spPr>
          <a:xfrm>
            <a:off x="62931" y="1396720"/>
            <a:ext cx="9021600" cy="120600"/>
          </a:xfrm>
          <a:prstGeom prst="rect">
            <a:avLst/>
          </a:prstGeom>
          <a:solidFill>
            <a:srgbClr val="E6AF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2" name="Google Shape;22;g2aa05d731d5_3_412"/>
          <p:cNvSpPr/>
          <p:nvPr/>
        </p:nvSpPr>
        <p:spPr>
          <a:xfrm>
            <a:off x="62931" y="2976649"/>
            <a:ext cx="9021600" cy="110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3" name="Google Shape;23;g2aa05d731d5_3_412"/>
          <p:cNvSpPr txBox="1"/>
          <p:nvPr>
            <p:ph type="ctrTitle"/>
          </p:nvPr>
        </p:nvSpPr>
        <p:spPr>
          <a:xfrm>
            <a:off x="457200" y="1505930"/>
            <a:ext cx="82296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Libre Franklin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2aa05d731d5_3_423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g2aa05d731d5_3_423"/>
          <p:cNvSpPr txBox="1"/>
          <p:nvPr>
            <p:ph idx="10" type="dt"/>
          </p:nvPr>
        </p:nvSpPr>
        <p:spPr>
          <a:xfrm>
            <a:off x="6172200" y="6191250"/>
            <a:ext cx="2476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g2aa05d731d5_3_423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g2aa05d731d5_3_423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9" name="Google Shape;29;g2aa05d731d5_3_423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showMasterSp="0" type="secHead">
  <p:cSld name="SECTION_HEADER">
    <p:bg>
      <p:bgPr>
        <a:blipFill rotWithShape="1">
          <a:blip r:embed="rId2">
            <a:alphaModFix/>
          </a:blip>
          <a:tile algn="tl" flip="none" tx="0" sx="54997" ty="0" sy="54997"/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2aa05d731d5_3_42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2" name="Google Shape;32;g2aa05d731d5_3_429"/>
          <p:cNvSpPr/>
          <p:nvPr/>
        </p:nvSpPr>
        <p:spPr>
          <a:xfrm>
            <a:off x="65313" y="69755"/>
            <a:ext cx="9013500" cy="6692100"/>
          </a:xfrm>
          <a:prstGeom prst="roundRect">
            <a:avLst>
              <a:gd fmla="val 4929" name="adj"/>
            </a:avLst>
          </a:prstGeom>
          <a:blipFill rotWithShape="1">
            <a:blip r:embed="rId2">
              <a:alphaModFix/>
            </a:blip>
            <a:tile algn="tl" flip="none" tx="0" sx="54997" ty="0" sy="54997"/>
          </a:blip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3" name="Google Shape;33;g2aa05d731d5_3_429"/>
          <p:cNvSpPr txBox="1"/>
          <p:nvPr>
            <p:ph type="title"/>
          </p:nvPr>
        </p:nvSpPr>
        <p:spPr>
          <a:xfrm>
            <a:off x="722313" y="9525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g2aa05d731d5_3_429"/>
          <p:cNvSpPr txBox="1"/>
          <p:nvPr>
            <p:ph idx="1" type="body"/>
          </p:nvPr>
        </p:nvSpPr>
        <p:spPr>
          <a:xfrm>
            <a:off x="722313" y="2547938"/>
            <a:ext cx="7772400" cy="13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04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36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00"/>
              <a:buFont typeface="Libre Baskerville"/>
              <a:buNone/>
              <a:defRPr sz="14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g2aa05d731d5_3_429"/>
          <p:cNvSpPr txBox="1"/>
          <p:nvPr>
            <p:ph idx="10" type="dt"/>
          </p:nvPr>
        </p:nvSpPr>
        <p:spPr>
          <a:xfrm>
            <a:off x="6172200" y="6191250"/>
            <a:ext cx="2476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g2aa05d731d5_3_429"/>
          <p:cNvSpPr txBox="1"/>
          <p:nvPr>
            <p:ph idx="11" type="ftr"/>
          </p:nvPr>
        </p:nvSpPr>
        <p:spPr>
          <a:xfrm>
            <a:off x="800100" y="6172200"/>
            <a:ext cx="400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g2aa05d731d5_3_429"/>
          <p:cNvSpPr/>
          <p:nvPr/>
        </p:nvSpPr>
        <p:spPr>
          <a:xfrm flipH="1" rot="10800000">
            <a:off x="69412" y="2376770"/>
            <a:ext cx="9013500" cy="91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8" name="Google Shape;38;g2aa05d731d5_3_429"/>
          <p:cNvSpPr/>
          <p:nvPr/>
        </p:nvSpPr>
        <p:spPr>
          <a:xfrm>
            <a:off x="69146" y="2341475"/>
            <a:ext cx="9013800" cy="45600"/>
          </a:xfrm>
          <a:prstGeom prst="rect">
            <a:avLst/>
          </a:prstGeom>
          <a:solidFill>
            <a:srgbClr val="E6AF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9" name="Google Shape;39;g2aa05d731d5_3_429"/>
          <p:cNvSpPr/>
          <p:nvPr/>
        </p:nvSpPr>
        <p:spPr>
          <a:xfrm>
            <a:off x="68306" y="2468880"/>
            <a:ext cx="9014700" cy="45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0" name="Google Shape;40;g2aa05d731d5_3_429"/>
          <p:cNvSpPr/>
          <p:nvPr>
            <p:ph idx="12" type="sldNum"/>
          </p:nvPr>
        </p:nvSpPr>
        <p:spPr>
          <a:xfrm>
            <a:off x="146304" y="6208776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2aa05d731d5_3_440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g2aa05d731d5_3_440"/>
          <p:cNvSpPr txBox="1"/>
          <p:nvPr>
            <p:ph idx="10" type="dt"/>
          </p:nvPr>
        </p:nvSpPr>
        <p:spPr>
          <a:xfrm>
            <a:off x="6172200" y="6191250"/>
            <a:ext cx="2476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g2aa05d731d5_3_440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g2aa05d731d5_3_440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6" name="Google Shape;46;g2aa05d731d5_3_440"/>
          <p:cNvSpPr txBox="1"/>
          <p:nvPr>
            <p:ph idx="1" type="body"/>
          </p:nvPr>
        </p:nvSpPr>
        <p:spPr>
          <a:xfrm>
            <a:off x="914400" y="1447800"/>
            <a:ext cx="37491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g2aa05d731d5_3_440"/>
          <p:cNvSpPr txBox="1"/>
          <p:nvPr>
            <p:ph idx="2" type="body"/>
          </p:nvPr>
        </p:nvSpPr>
        <p:spPr>
          <a:xfrm>
            <a:off x="4933950" y="1447800"/>
            <a:ext cx="37491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2aa05d731d5_3_447"/>
          <p:cNvSpPr txBox="1"/>
          <p:nvPr>
            <p:ph type="title"/>
          </p:nvPr>
        </p:nvSpPr>
        <p:spPr>
          <a:xfrm>
            <a:off x="914400" y="2730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g2aa05d731d5_3_447"/>
          <p:cNvSpPr txBox="1"/>
          <p:nvPr>
            <p:ph idx="1" type="body"/>
          </p:nvPr>
        </p:nvSpPr>
        <p:spPr>
          <a:xfrm>
            <a:off x="914400" y="1447800"/>
            <a:ext cx="37338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040"/>
              <a:buNone/>
              <a:defRPr b="1" sz="2400">
                <a:solidFill>
                  <a:schemeClr val="accen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228600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600"/>
              <a:buFont typeface="Libre Baskerville"/>
              <a:buNone/>
              <a:defRPr b="1" sz="1600"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g2aa05d731d5_3_447"/>
          <p:cNvSpPr txBox="1"/>
          <p:nvPr>
            <p:ph idx="2" type="body"/>
          </p:nvPr>
        </p:nvSpPr>
        <p:spPr>
          <a:xfrm>
            <a:off x="4953000" y="1447800"/>
            <a:ext cx="37338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040"/>
              <a:buNone/>
              <a:defRPr b="1" sz="2400">
                <a:solidFill>
                  <a:schemeClr val="accen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228600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600"/>
              <a:buFont typeface="Libre Baskerville"/>
              <a:buNone/>
              <a:defRPr b="1" sz="1600"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g2aa05d731d5_3_447"/>
          <p:cNvSpPr txBox="1"/>
          <p:nvPr>
            <p:ph idx="10" type="dt"/>
          </p:nvPr>
        </p:nvSpPr>
        <p:spPr>
          <a:xfrm>
            <a:off x="6172200" y="6191250"/>
            <a:ext cx="2476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g2aa05d731d5_3_447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g2aa05d731d5_3_447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5" name="Google Shape;55;g2aa05d731d5_3_447"/>
          <p:cNvSpPr txBox="1"/>
          <p:nvPr>
            <p:ph idx="3" type="body"/>
          </p:nvPr>
        </p:nvSpPr>
        <p:spPr>
          <a:xfrm>
            <a:off x="914400" y="2247900"/>
            <a:ext cx="37338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g2aa05d731d5_3_447"/>
          <p:cNvSpPr txBox="1"/>
          <p:nvPr>
            <p:ph idx="4" type="body"/>
          </p:nvPr>
        </p:nvSpPr>
        <p:spPr>
          <a:xfrm>
            <a:off x="4953000" y="2247900"/>
            <a:ext cx="37338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aa05d731d5_3_456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g2aa05d731d5_3_456"/>
          <p:cNvSpPr txBox="1"/>
          <p:nvPr>
            <p:ph idx="10" type="dt"/>
          </p:nvPr>
        </p:nvSpPr>
        <p:spPr>
          <a:xfrm>
            <a:off x="6172200" y="6191250"/>
            <a:ext cx="2476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g2aa05d731d5_3_456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g2aa05d731d5_3_456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aa05d731d5_3_461"/>
          <p:cNvSpPr txBox="1"/>
          <p:nvPr>
            <p:ph idx="10" type="dt"/>
          </p:nvPr>
        </p:nvSpPr>
        <p:spPr>
          <a:xfrm>
            <a:off x="6172200" y="6191250"/>
            <a:ext cx="2476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g2aa05d731d5_3_461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g2aa05d731d5_3_461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aa05d731d5_3_46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68" name="Google Shape;68;g2aa05d731d5_3_465"/>
          <p:cNvSpPr/>
          <p:nvPr/>
        </p:nvSpPr>
        <p:spPr>
          <a:xfrm>
            <a:off x="64008" y="69755"/>
            <a:ext cx="9013500" cy="6693300"/>
          </a:xfrm>
          <a:prstGeom prst="roundRect">
            <a:avLst>
              <a:gd fmla="val 4929" name="adj"/>
            </a:avLst>
          </a:prstGeom>
          <a:solidFill>
            <a:schemeClr val="lt1"/>
          </a:solid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69" name="Google Shape;69;g2aa05d731d5_3_465"/>
          <p:cNvSpPr txBox="1"/>
          <p:nvPr>
            <p:ph type="title"/>
          </p:nvPr>
        </p:nvSpPr>
        <p:spPr>
          <a:xfrm>
            <a:off x="914400" y="2730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 b="0"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g2aa05d731d5_3_465"/>
          <p:cNvSpPr txBox="1"/>
          <p:nvPr>
            <p:ph idx="1" type="body"/>
          </p:nvPr>
        </p:nvSpPr>
        <p:spPr>
          <a:xfrm>
            <a:off x="914400" y="1600200"/>
            <a:ext cx="1905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900"/>
              <a:buFont typeface="Libre Baskerville"/>
              <a:buNone/>
              <a:defRPr sz="900"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g2aa05d731d5_3_465"/>
          <p:cNvSpPr txBox="1"/>
          <p:nvPr>
            <p:ph idx="10" type="dt"/>
          </p:nvPr>
        </p:nvSpPr>
        <p:spPr>
          <a:xfrm>
            <a:off x="6172200" y="6191250"/>
            <a:ext cx="2476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g2aa05d731d5_3_465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g2aa05d731d5_3_465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74" name="Google Shape;74;g2aa05d731d5_3_465"/>
          <p:cNvSpPr txBox="1"/>
          <p:nvPr>
            <p:ph idx="2" type="body"/>
          </p:nvPr>
        </p:nvSpPr>
        <p:spPr>
          <a:xfrm>
            <a:off x="2971800" y="1600200"/>
            <a:ext cx="5715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aa05d731d5_3_474"/>
          <p:cNvSpPr txBox="1"/>
          <p:nvPr>
            <p:ph type="title"/>
          </p:nvPr>
        </p:nvSpPr>
        <p:spPr>
          <a:xfrm>
            <a:off x="914400" y="4900550"/>
            <a:ext cx="73152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Franklin"/>
              <a:buNone/>
              <a:defRPr b="0"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g2aa05d731d5_3_474"/>
          <p:cNvSpPr txBox="1"/>
          <p:nvPr>
            <p:ph idx="1" type="body"/>
          </p:nvPr>
        </p:nvSpPr>
        <p:spPr>
          <a:xfrm>
            <a:off x="914400" y="5445825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360"/>
              <a:buFont typeface="Libre Baskerville"/>
              <a:buNone/>
              <a:defRPr sz="1600"/>
            </a:lvl1pPr>
            <a:lvl2pPr indent="-293369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020"/>
              <a:buChar char="⚫"/>
              <a:defRPr sz="1200"/>
            </a:lvl2pPr>
            <a:lvl3pPr indent="-282575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850"/>
              <a:buChar char="⚫"/>
              <a:defRPr sz="1000"/>
            </a:lvl3pPr>
            <a:lvl4pPr indent="-274319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720"/>
              <a:buChar char="⚫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900"/>
              <a:buFont typeface="Libre Baskerville"/>
              <a:buChar char="o"/>
              <a:defRPr sz="900"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g2aa05d731d5_3_474"/>
          <p:cNvSpPr txBox="1"/>
          <p:nvPr>
            <p:ph idx="10" type="dt"/>
          </p:nvPr>
        </p:nvSpPr>
        <p:spPr>
          <a:xfrm>
            <a:off x="6172200" y="6191250"/>
            <a:ext cx="2476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g2aa05d731d5_3_474"/>
          <p:cNvSpPr txBox="1"/>
          <p:nvPr>
            <p:ph idx="11" type="ftr"/>
          </p:nvPr>
        </p:nvSpPr>
        <p:spPr>
          <a:xfrm>
            <a:off x="914400" y="6172200"/>
            <a:ext cx="388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g2aa05d731d5_3_474"/>
          <p:cNvSpPr/>
          <p:nvPr>
            <p:ph idx="12" type="sldNum"/>
          </p:nvPr>
        </p:nvSpPr>
        <p:spPr>
          <a:xfrm>
            <a:off x="146304" y="6208776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81" name="Google Shape;81;g2aa05d731d5_3_474"/>
          <p:cNvSpPr/>
          <p:nvPr/>
        </p:nvSpPr>
        <p:spPr>
          <a:xfrm flipH="1" rot="10800000">
            <a:off x="68307" y="4683495"/>
            <a:ext cx="9006900" cy="91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82" name="Google Shape;82;g2aa05d731d5_3_474"/>
          <p:cNvSpPr/>
          <p:nvPr/>
        </p:nvSpPr>
        <p:spPr>
          <a:xfrm>
            <a:off x="68508" y="4650474"/>
            <a:ext cx="9006600" cy="45600"/>
          </a:xfrm>
          <a:prstGeom prst="rect">
            <a:avLst/>
          </a:prstGeom>
          <a:solidFill>
            <a:srgbClr val="E6AF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83" name="Google Shape;83;g2aa05d731d5_3_474"/>
          <p:cNvSpPr/>
          <p:nvPr/>
        </p:nvSpPr>
        <p:spPr>
          <a:xfrm>
            <a:off x="68510" y="4773224"/>
            <a:ext cx="9006600" cy="48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84" name="Google Shape;84;g2aa05d731d5_3_474"/>
          <p:cNvSpPr/>
          <p:nvPr>
            <p:ph idx="2" type="pic"/>
          </p:nvPr>
        </p:nvSpPr>
        <p:spPr>
          <a:xfrm>
            <a:off x="68308" y="66675"/>
            <a:ext cx="9001800" cy="4581600"/>
          </a:xfrm>
          <a:prstGeom prst="round2SameRect">
            <a:avLst>
              <a:gd fmla="val 7101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aa05d731d5_3_484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g2aa05d731d5_3_484"/>
          <p:cNvSpPr txBox="1"/>
          <p:nvPr>
            <p:ph idx="1" type="body"/>
          </p:nvPr>
        </p:nvSpPr>
        <p:spPr>
          <a:xfrm rot="5400000">
            <a:off x="2514600" y="-152400"/>
            <a:ext cx="4572000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g2aa05d731d5_3_484"/>
          <p:cNvSpPr txBox="1"/>
          <p:nvPr>
            <p:ph idx="10" type="dt"/>
          </p:nvPr>
        </p:nvSpPr>
        <p:spPr>
          <a:xfrm>
            <a:off x="6172200" y="6191250"/>
            <a:ext cx="2476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g2aa05d731d5_3_484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g2aa05d731d5_3_484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aa05d731d5_3_490"/>
          <p:cNvSpPr txBox="1"/>
          <p:nvPr>
            <p:ph type="title"/>
          </p:nvPr>
        </p:nvSpPr>
        <p:spPr>
          <a:xfrm rot="5400000">
            <a:off x="4709430" y="2194491"/>
            <a:ext cx="58515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g2aa05d731d5_3_490"/>
          <p:cNvSpPr txBox="1"/>
          <p:nvPr>
            <p:ph idx="1" type="body"/>
          </p:nvPr>
        </p:nvSpPr>
        <p:spPr>
          <a:xfrm rot="5400000">
            <a:off x="769950" y="419090"/>
            <a:ext cx="58515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g2aa05d731d5_3_490"/>
          <p:cNvSpPr txBox="1"/>
          <p:nvPr>
            <p:ph idx="10" type="dt"/>
          </p:nvPr>
        </p:nvSpPr>
        <p:spPr>
          <a:xfrm>
            <a:off x="6172200" y="6191250"/>
            <a:ext cx="2476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g2aa05d731d5_3_490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g2aa05d731d5_3_490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showMasterSp="0" type="title">
  <p:cSld name="TITLE">
    <p:bg>
      <p:bgPr>
        <a:blipFill rotWithShape="1">
          <a:blip r:embed="rId2">
            <a:alphaModFix/>
          </a:blip>
          <a:tile algn="tl" flip="none" tx="0" sx="55000" ty="0" sy="55000"/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07" name="Google Shape;107;p47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fmla="val 4929" name="adj"/>
            </a:avLst>
          </a:prstGeom>
          <a:blipFill rotWithShape="1">
            <a:blip r:embed="rId2">
              <a:alphaModFix/>
            </a:blip>
            <a:tile algn="tl" flip="none" tx="0" sx="55000" ty="0" sy="55000"/>
          </a:blip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08" name="Google Shape;108;p47"/>
          <p:cNvSpPr txBox="1"/>
          <p:nvPr>
            <p:ph idx="1" type="subTitle"/>
          </p:nvPr>
        </p:nvSpPr>
        <p:spPr>
          <a:xfrm>
            <a:off x="1295400" y="3200400"/>
            <a:ext cx="6400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  <a:defRPr sz="2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None/>
              <a:defRPr/>
            </a:lvl3pPr>
            <a:lvl4pPr lvl="3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None/>
              <a:defRPr/>
            </a:lvl4pPr>
            <a:lvl5pPr lvl="4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09" name="Google Shape;109;p47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47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47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12" name="Google Shape;112;p47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13" name="Google Shape;113;p47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rgbClr val="E6AF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14" name="Google Shape;114;p47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15" name="Google Shape;115;p47"/>
          <p:cNvSpPr txBox="1"/>
          <p:nvPr>
            <p:ph type="ctrTitle"/>
          </p:nvPr>
        </p:nvSpPr>
        <p:spPr>
          <a:xfrm>
            <a:off x="457200" y="1505930"/>
            <a:ext cx="82296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Libre Franklin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8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48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48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48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21" name="Google Shape;121;p48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showMasterSp="0" type="secHead">
  <p:cSld name="SECTION_HEADER">
    <p:bg>
      <p:bgPr>
        <a:blipFill rotWithShape="1">
          <a:blip r:embed="rId2">
            <a:alphaModFix/>
          </a:blip>
          <a:tile algn="tl" flip="none" tx="0" sx="55000" ty="0" sy="55000"/>
        </a:blip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24" name="Google Shape;124;p4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fmla="val 4929" name="adj"/>
            </a:avLst>
          </a:prstGeom>
          <a:blipFill rotWithShape="1">
            <a:blip r:embed="rId2">
              <a:alphaModFix/>
            </a:blip>
            <a:tile algn="tl" flip="none" tx="0" sx="55000" ty="0" sy="55000"/>
          </a:blip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25" name="Google Shape;125;p49"/>
          <p:cNvSpPr txBox="1"/>
          <p:nvPr>
            <p:ph type="title"/>
          </p:nvPr>
        </p:nvSpPr>
        <p:spPr>
          <a:xfrm>
            <a:off x="722313" y="9525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49"/>
          <p:cNvSpPr txBox="1"/>
          <p:nvPr>
            <p:ph idx="1" type="body"/>
          </p:nvPr>
        </p:nvSpPr>
        <p:spPr>
          <a:xfrm>
            <a:off x="722313" y="2547938"/>
            <a:ext cx="7772400" cy="1338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04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36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00"/>
              <a:buFont typeface="Libre Baskerville"/>
              <a:buNone/>
              <a:defRPr sz="14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49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49"/>
          <p:cNvSpPr txBox="1"/>
          <p:nvPr>
            <p:ph idx="11" type="ftr"/>
          </p:nvPr>
        </p:nvSpPr>
        <p:spPr>
          <a:xfrm>
            <a:off x="800100" y="6172200"/>
            <a:ext cx="400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49"/>
          <p:cNvSpPr/>
          <p:nvPr/>
        </p:nvSpPr>
        <p:spPr>
          <a:xfrm flipH="1" rot="10800000">
            <a:off x="69412" y="2376830"/>
            <a:ext cx="9013515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30" name="Google Shape;130;p49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rgbClr val="E6AF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31" name="Google Shape;131;p49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32" name="Google Shape;132;p49"/>
          <p:cNvSpPr/>
          <p:nvPr>
            <p:ph idx="12" type="sldNum"/>
          </p:nvPr>
        </p:nvSpPr>
        <p:spPr>
          <a:xfrm>
            <a:off x="146304" y="6208776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0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50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50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50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38" name="Google Shape;138;p50"/>
          <p:cNvSpPr txBox="1"/>
          <p:nvPr>
            <p:ph idx="1" type="body"/>
          </p:nvPr>
        </p:nvSpPr>
        <p:spPr>
          <a:xfrm>
            <a:off x="914400" y="1447800"/>
            <a:ext cx="37490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9" name="Google Shape;139;p50"/>
          <p:cNvSpPr txBox="1"/>
          <p:nvPr>
            <p:ph idx="2" type="body"/>
          </p:nvPr>
        </p:nvSpPr>
        <p:spPr>
          <a:xfrm>
            <a:off x="4933950" y="1447800"/>
            <a:ext cx="374904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1"/>
          <p:cNvSpPr txBox="1"/>
          <p:nvPr>
            <p:ph type="title"/>
          </p:nvPr>
        </p:nvSpPr>
        <p:spPr>
          <a:xfrm>
            <a:off x="914400" y="2730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51"/>
          <p:cNvSpPr txBox="1"/>
          <p:nvPr>
            <p:ph idx="1" type="body"/>
          </p:nvPr>
        </p:nvSpPr>
        <p:spPr>
          <a:xfrm>
            <a:off x="914400" y="1447800"/>
            <a:ext cx="37338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040"/>
              <a:buNone/>
              <a:defRPr b="1" sz="2400">
                <a:solidFill>
                  <a:schemeClr val="accen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228600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600"/>
              <a:buFont typeface="Libre Baskerville"/>
              <a:buNone/>
              <a:defRPr b="1" sz="1600"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43" name="Google Shape;143;p51"/>
          <p:cNvSpPr txBox="1"/>
          <p:nvPr>
            <p:ph idx="2" type="body"/>
          </p:nvPr>
        </p:nvSpPr>
        <p:spPr>
          <a:xfrm>
            <a:off x="4953000" y="1447800"/>
            <a:ext cx="37338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040"/>
              <a:buNone/>
              <a:defRPr b="1" sz="2400">
                <a:solidFill>
                  <a:schemeClr val="accen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228600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600"/>
              <a:buFont typeface="Libre Baskerville"/>
              <a:buNone/>
              <a:defRPr b="1" sz="1600"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51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51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51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47" name="Google Shape;147;p51"/>
          <p:cNvSpPr txBox="1"/>
          <p:nvPr>
            <p:ph idx="3" type="body"/>
          </p:nvPr>
        </p:nvSpPr>
        <p:spPr>
          <a:xfrm>
            <a:off x="914400" y="2247900"/>
            <a:ext cx="37338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p51"/>
          <p:cNvSpPr txBox="1"/>
          <p:nvPr>
            <p:ph idx="4" type="body"/>
          </p:nvPr>
        </p:nvSpPr>
        <p:spPr>
          <a:xfrm>
            <a:off x="4953000" y="2247900"/>
            <a:ext cx="37338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2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52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52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52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3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53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53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60" name="Google Shape;160;p54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fmla="val 4929" name="adj"/>
            </a:avLst>
          </a:prstGeom>
          <a:solidFill>
            <a:schemeClr val="lt1"/>
          </a:solid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61" name="Google Shape;161;p54"/>
          <p:cNvSpPr txBox="1"/>
          <p:nvPr>
            <p:ph type="title"/>
          </p:nvPr>
        </p:nvSpPr>
        <p:spPr>
          <a:xfrm>
            <a:off x="914400" y="2730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 b="0"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54"/>
          <p:cNvSpPr txBox="1"/>
          <p:nvPr>
            <p:ph idx="1" type="body"/>
          </p:nvPr>
        </p:nvSpPr>
        <p:spPr>
          <a:xfrm>
            <a:off x="914400" y="1600200"/>
            <a:ext cx="1905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900"/>
              <a:buFont typeface="Libre Baskerville"/>
              <a:buNone/>
              <a:defRPr sz="900"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63" name="Google Shape;163;p54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54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54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66" name="Google Shape;166;p54"/>
          <p:cNvSpPr txBox="1"/>
          <p:nvPr>
            <p:ph idx="2" type="body"/>
          </p:nvPr>
        </p:nvSpPr>
        <p:spPr>
          <a:xfrm>
            <a:off x="2971800" y="1600200"/>
            <a:ext cx="5715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5"/>
          <p:cNvSpPr txBox="1"/>
          <p:nvPr>
            <p:ph type="title"/>
          </p:nvPr>
        </p:nvSpPr>
        <p:spPr>
          <a:xfrm>
            <a:off x="914400" y="4900550"/>
            <a:ext cx="7315200" cy="522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Franklin"/>
              <a:buNone/>
              <a:defRPr b="0"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55"/>
          <p:cNvSpPr txBox="1"/>
          <p:nvPr>
            <p:ph idx="1" type="body"/>
          </p:nvPr>
        </p:nvSpPr>
        <p:spPr>
          <a:xfrm>
            <a:off x="914400" y="5445825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360"/>
              <a:buFont typeface="Libre Baskerville"/>
              <a:buNone/>
              <a:defRPr sz="1600"/>
            </a:lvl1pPr>
            <a:lvl2pPr indent="-293369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020"/>
              <a:buChar char="⚫"/>
              <a:defRPr sz="1200"/>
            </a:lvl2pPr>
            <a:lvl3pPr indent="-282575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850"/>
              <a:buChar char="⚫"/>
              <a:defRPr sz="1000"/>
            </a:lvl3pPr>
            <a:lvl4pPr indent="-274319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720"/>
              <a:buChar char="⚫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900"/>
              <a:buFont typeface="Libre Baskerville"/>
              <a:buChar char="o"/>
              <a:defRPr sz="900"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70" name="Google Shape;170;p55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55"/>
          <p:cNvSpPr txBox="1"/>
          <p:nvPr>
            <p:ph idx="11" type="ftr"/>
          </p:nvPr>
        </p:nvSpPr>
        <p:spPr>
          <a:xfrm>
            <a:off x="914400" y="6172200"/>
            <a:ext cx="3886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55"/>
          <p:cNvSpPr/>
          <p:nvPr>
            <p:ph idx="12" type="sldNum"/>
          </p:nvPr>
        </p:nvSpPr>
        <p:spPr>
          <a:xfrm>
            <a:off x="146304" y="6208776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73" name="Google Shape;173;p55"/>
          <p:cNvSpPr/>
          <p:nvPr/>
        </p:nvSpPr>
        <p:spPr>
          <a:xfrm flipH="1" rot="10800000">
            <a:off x="68307" y="4683555"/>
            <a:ext cx="9006840" cy="91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74" name="Google Shape;174;p55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rgbClr val="E6AFA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75" name="Google Shape;175;p55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76" name="Google Shape;176;p55"/>
          <p:cNvSpPr/>
          <p:nvPr>
            <p:ph idx="2" type="pic"/>
          </p:nvPr>
        </p:nvSpPr>
        <p:spPr>
          <a:xfrm>
            <a:off x="68308" y="66675"/>
            <a:ext cx="9001873" cy="4581525"/>
          </a:xfrm>
          <a:prstGeom prst="round2SameRect">
            <a:avLst>
              <a:gd fmla="val 7101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6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56"/>
          <p:cNvSpPr txBox="1"/>
          <p:nvPr>
            <p:ph idx="1" type="body"/>
          </p:nvPr>
        </p:nvSpPr>
        <p:spPr>
          <a:xfrm rot="5400000">
            <a:off x="2514600" y="-152400"/>
            <a:ext cx="4572000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56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56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56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7"/>
          <p:cNvSpPr txBox="1"/>
          <p:nvPr>
            <p:ph type="title"/>
          </p:nvPr>
        </p:nvSpPr>
        <p:spPr>
          <a:xfrm rot="5400000">
            <a:off x="4709478" y="2194564"/>
            <a:ext cx="5851525" cy="20116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57"/>
          <p:cNvSpPr txBox="1"/>
          <p:nvPr>
            <p:ph idx="1" type="body"/>
          </p:nvPr>
        </p:nvSpPr>
        <p:spPr>
          <a:xfrm rot="5400000">
            <a:off x="769938" y="419103"/>
            <a:ext cx="5851525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530"/>
              <a:buChar char="⚫"/>
              <a:defRPr/>
            </a:lvl1pPr>
            <a:lvl2pPr indent="-325755" lvl="1" marL="914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2pPr>
            <a:lvl3pPr indent="-325755" lvl="2" marL="1371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530"/>
              <a:buChar char="⚫"/>
              <a:defRPr/>
            </a:lvl3pPr>
            <a:lvl4pPr indent="-320039" lvl="3" marL="1828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440"/>
              <a:buChar char="⚫"/>
              <a:defRPr/>
            </a:lvl4pPr>
            <a:lvl5pPr indent="-342900" lvl="4" marL="22860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o"/>
              <a:defRPr/>
            </a:lvl5pPr>
            <a:lvl6pPr indent="-342900" lvl="5" marL="27432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86" name="Google Shape;186;p57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57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57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2aa05d731d5_3_40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7" name="Google Shape;7;g2aa05d731d5_3_404"/>
          <p:cNvSpPr/>
          <p:nvPr/>
        </p:nvSpPr>
        <p:spPr>
          <a:xfrm>
            <a:off x="64008" y="69755"/>
            <a:ext cx="9013500" cy="6693300"/>
          </a:xfrm>
          <a:prstGeom prst="roundRect">
            <a:avLst>
              <a:gd fmla="val 4929" name="adj"/>
            </a:avLst>
          </a:prstGeom>
          <a:solidFill>
            <a:schemeClr val="lt1"/>
          </a:solid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8" name="Google Shape;8;g2aa05d731d5_3_404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g2aa05d731d5_3_404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935" lvl="0" marL="457200" marR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⚫"/>
              <a:defRPr b="0" i="0" sz="26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358140" lvl="1" marL="91440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336550" lvl="2" marL="137160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E6AFA9"/>
              </a:buClr>
              <a:buSzPts val="17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Libre Baskerville"/>
              <a:buChar char="o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E6AFA9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CAABA9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0" name="Google Shape;10;g2aa05d731d5_3_404"/>
          <p:cNvSpPr txBox="1"/>
          <p:nvPr>
            <p:ph idx="10" type="dt"/>
          </p:nvPr>
        </p:nvSpPr>
        <p:spPr>
          <a:xfrm>
            <a:off x="6172200" y="6191250"/>
            <a:ext cx="2476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1" name="Google Shape;11;g2aa05d731d5_3_404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2" name="Google Shape;12;g2aa05d731d5_3_404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99" name="Google Shape;99;p46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fmla="val 4929" name="adj"/>
            </a:avLst>
          </a:prstGeom>
          <a:solidFill>
            <a:schemeClr val="lt1"/>
          </a:solidFill>
          <a:ln cap="sq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00" name="Google Shape;100;p46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  <a:defRPr b="0" i="0" sz="4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1" name="Google Shape;101;p46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935" lvl="0" marL="457200" marR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ts val="2210"/>
              <a:buFont typeface="Noto Sans Symbols"/>
              <a:buChar char="⚫"/>
              <a:defRPr b="0" i="0" sz="26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358140" lvl="1" marL="91440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336550" lvl="2" marL="137160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E6AFA9"/>
              </a:buClr>
              <a:buSzPts val="17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Libre Baskerville"/>
              <a:buChar char="o"/>
              <a:defRPr b="0" i="0" sz="20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E6AFA9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CAABA9"/>
              </a:buClr>
              <a:buSzPts val="1800"/>
              <a:buFont typeface="Libre Baskerville"/>
              <a:buChar char="•"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02" name="Google Shape;102;p46"/>
          <p:cNvSpPr txBox="1"/>
          <p:nvPr>
            <p:ph idx="10" type="dt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03" name="Google Shape;103;p46"/>
          <p:cNvSpPr txBox="1"/>
          <p:nvPr>
            <p:ph idx="11" type="ftr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04" name="Google Shape;104;p46"/>
          <p:cNvSpPr/>
          <p:nvPr>
            <p:ph idx="12" type="sldNum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3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6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8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5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aa05d731d5_3_248"/>
          <p:cNvSpPr txBox="1"/>
          <p:nvPr>
            <p:ph idx="1" type="subTitle"/>
          </p:nvPr>
        </p:nvSpPr>
        <p:spPr>
          <a:xfrm>
            <a:off x="1295400" y="3200400"/>
            <a:ext cx="6400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  <p:sp>
        <p:nvSpPr>
          <p:cNvPr id="194" name="Google Shape;194;g2aa05d731d5_3_248"/>
          <p:cNvSpPr txBox="1"/>
          <p:nvPr>
            <p:ph type="ctrTitle"/>
          </p:nvPr>
        </p:nvSpPr>
        <p:spPr>
          <a:xfrm>
            <a:off x="457200" y="1505930"/>
            <a:ext cx="82296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Libre Franklin"/>
              <a:buNone/>
            </a:pPr>
            <a:r>
              <a:rPr lang="ru-RU"/>
              <a:t>Внимание и его особенности</a:t>
            </a:r>
            <a:endParaRPr/>
          </a:p>
        </p:txBody>
      </p:sp>
      <p:sp>
        <p:nvSpPr>
          <p:cNvPr id="195" name="Google Shape;195;g2aa05d731d5_3_24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aa05d731d5_3_253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t/>
            </a:r>
            <a:endParaRPr/>
          </a:p>
        </p:txBody>
      </p:sp>
      <p:sp>
        <p:nvSpPr>
          <p:cNvPr descr="Человек На Улице, Глядя Вверх, Держать Планшет В Руках Стоковые Фотографии  | FreeImages" id="201" name="Google Shape;201;g2aa05d731d5_3_253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id="202" name="Google Shape;202;g2aa05d731d5_3_25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5816" y="476672"/>
            <a:ext cx="2619300" cy="17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g2aa05d731d5_3_253"/>
          <p:cNvSpPr/>
          <p:nvPr/>
        </p:nvSpPr>
        <p:spPr>
          <a:xfrm>
            <a:off x="464328" y="2924944"/>
            <a:ext cx="3456300" cy="1080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Нас окружают миллиарды признаков</a:t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04" name="Google Shape;204;g2aa05d731d5_3_253"/>
          <p:cNvSpPr/>
          <p:nvPr/>
        </p:nvSpPr>
        <p:spPr>
          <a:xfrm>
            <a:off x="5220072" y="2902159"/>
            <a:ext cx="3456300" cy="1080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Ограниченные возможности нервной системы</a:t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05" name="Google Shape;205;g2aa05d731d5_3_253"/>
          <p:cNvSpPr/>
          <p:nvPr/>
        </p:nvSpPr>
        <p:spPr>
          <a:xfrm>
            <a:off x="2181486" y="1686007"/>
            <a:ext cx="731400" cy="1216200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1"/>
          </a:solidFill>
          <a:ln cap="flat" cmpd="sng" w="12700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06" name="Google Shape;206;g2aa05d731d5_3_253"/>
          <p:cNvSpPr/>
          <p:nvPr/>
        </p:nvSpPr>
        <p:spPr>
          <a:xfrm flipH="1">
            <a:off x="5508232" y="764704"/>
            <a:ext cx="752400" cy="2137500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1"/>
          </a:solidFill>
          <a:ln cap="flat" cmpd="sng" w="12700">
            <a:solidFill>
              <a:srgbClr val="9934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cxnSp>
        <p:nvCxnSpPr>
          <p:cNvPr id="207" name="Google Shape;207;g2aa05d731d5_3_253"/>
          <p:cNvCxnSpPr>
            <a:stCxn id="204" idx="2"/>
          </p:cNvCxnSpPr>
          <p:nvPr/>
        </p:nvCxnSpPr>
        <p:spPr>
          <a:xfrm>
            <a:off x="6948222" y="3982159"/>
            <a:ext cx="0" cy="742800"/>
          </a:xfrm>
          <a:prstGeom prst="straightConnector1">
            <a:avLst/>
          </a:prstGeom>
          <a:noFill/>
          <a:ln cap="flat" cmpd="sng" w="9525">
            <a:solidFill>
              <a:srgbClr val="AE350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08" name="Google Shape;208;g2aa05d731d5_3_253"/>
          <p:cNvSpPr/>
          <p:nvPr/>
        </p:nvSpPr>
        <p:spPr>
          <a:xfrm>
            <a:off x="5225223" y="4766680"/>
            <a:ext cx="3456300" cy="10800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Мы не можем обнаружить все признаки, но даже обнаруженные не всегда можем обработать</a:t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aa05d731d5_3_265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t/>
            </a:r>
            <a:endParaRPr/>
          </a:p>
        </p:txBody>
      </p:sp>
      <p:sp>
        <p:nvSpPr>
          <p:cNvPr id="214" name="Google Shape;214;g2aa05d731d5_3_265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33985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-133985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-133985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-133985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-133985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-133985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-133985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0" lvl="8" marL="224028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Font typeface="Libre Baskerville"/>
              <a:buNone/>
            </a:pPr>
            <a:r>
              <a:rPr lang="ru-RU"/>
              <a:t>       Органы чувств работают хорошо</a:t>
            </a:r>
            <a:endParaRPr/>
          </a:p>
          <a:p>
            <a:pPr indent="0" lvl="8" marL="224028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Font typeface="Libre Baskerville"/>
              <a:buNone/>
            </a:pPr>
            <a:r>
              <a:t/>
            </a:r>
            <a:endParaRPr/>
          </a:p>
          <a:p>
            <a:pPr indent="0" lvl="8" marL="635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SzPts val="1800"/>
              <a:buFont typeface="Libre Baskerville"/>
              <a:buNone/>
            </a:pPr>
            <a:r>
              <a:rPr lang="ru-RU"/>
              <a:t>Сбой</a:t>
            </a:r>
            <a:endParaRPr/>
          </a:p>
          <a:p>
            <a:pPr indent="-133985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  <p:sp>
        <p:nvSpPr>
          <p:cNvPr id="215" name="Google Shape;215;g2aa05d731d5_3_265"/>
          <p:cNvSpPr/>
          <p:nvPr/>
        </p:nvSpPr>
        <p:spPr>
          <a:xfrm>
            <a:off x="2411760" y="2060848"/>
            <a:ext cx="5688632" cy="1440160"/>
          </a:xfrm>
          <a:prstGeom prst="flowChartDecision">
            <a:avLst/>
          </a:prstGeom>
          <a:solidFill>
            <a:schemeClr val="lt1"/>
          </a:solidFill>
          <a:ln cap="flat" cmpd="sng" w="127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Количество обрабатываемой информации &lt; возможности органов чувств</a:t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cxnSp>
        <p:nvCxnSpPr>
          <p:cNvPr id="216" name="Google Shape;216;g2aa05d731d5_3_265"/>
          <p:cNvCxnSpPr/>
          <p:nvPr/>
        </p:nvCxnSpPr>
        <p:spPr>
          <a:xfrm>
            <a:off x="5256076" y="3501008"/>
            <a:ext cx="0" cy="1296000"/>
          </a:xfrm>
          <a:prstGeom prst="straightConnector1">
            <a:avLst/>
          </a:prstGeom>
          <a:noFill/>
          <a:ln cap="flat" cmpd="sng" w="9525">
            <a:solidFill>
              <a:srgbClr val="AE350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17" name="Google Shape;217;g2aa05d731d5_3_265"/>
          <p:cNvCxnSpPr>
            <a:stCxn id="215" idx="1"/>
          </p:cNvCxnSpPr>
          <p:nvPr/>
        </p:nvCxnSpPr>
        <p:spPr>
          <a:xfrm flipH="1">
            <a:off x="1403760" y="2780928"/>
            <a:ext cx="1008000" cy="2520300"/>
          </a:xfrm>
          <a:prstGeom prst="curvedConnector2">
            <a:avLst/>
          </a:prstGeom>
          <a:noFill/>
          <a:ln cap="flat" cmpd="sng" w="9525">
            <a:solidFill>
              <a:srgbClr val="AE350A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aa05d731d5_3_273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t/>
            </a:r>
            <a:endParaRPr/>
          </a:p>
        </p:txBody>
      </p:sp>
      <p:sp>
        <p:nvSpPr>
          <p:cNvPr id="223" name="Google Shape;223;g2aa05d731d5_3_273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60"/>
              <a:buNone/>
            </a:pPr>
            <a:r>
              <a:t/>
            </a:r>
            <a:endParaRPr sz="3600"/>
          </a:p>
          <a:p>
            <a:pPr indent="0" lvl="0" marL="0" rtl="0" algn="ctr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3060"/>
              <a:buNone/>
            </a:pPr>
            <a:r>
              <a:rPr lang="ru-RU" sz="3600"/>
              <a:t>Что  выступит на первый план, а что останется в тени?</a:t>
            </a:r>
            <a:endParaRPr sz="3600"/>
          </a:p>
        </p:txBody>
      </p:sp>
      <p:pic>
        <p:nvPicPr>
          <p:cNvPr id="224" name="Google Shape;224;g2aa05d731d5_3_2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28184" y="4077072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aa05d731d5_3_279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Внимание - это</a:t>
            </a:r>
            <a:endParaRPr/>
          </a:p>
        </p:txBody>
      </p:sp>
      <p:sp>
        <p:nvSpPr>
          <p:cNvPr id="230" name="Google Shape;230;g2aa05d731d5_3_279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концентрация умственного усилия на сенсорных или мысленных событиях.</a:t>
            </a:r>
            <a:endParaRPr/>
          </a:p>
          <a:p>
            <a:pPr indent="-133985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  <p:sp>
        <p:nvSpPr>
          <p:cNvPr descr="сконцентрированный человек кроссворда криптический делая Стоковое  Изображение - изображение насчитывающей хобби, человек: 17376985" id="231" name="Google Shape;231;g2aa05d731d5_3_279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id="232" name="Google Shape;232;g2aa05d731d5_3_2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91880" y="2780928"/>
            <a:ext cx="2089541" cy="31400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aa05d731d5_3_286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t/>
            </a:r>
            <a:endParaRPr/>
          </a:p>
        </p:txBody>
      </p:sp>
      <p:sp>
        <p:nvSpPr>
          <p:cNvPr id="238" name="Google Shape;238;g2aa05d731d5_3_286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b="1" lang="ru-RU" sz="4000">
                <a:solidFill>
                  <a:srgbClr val="FF0000"/>
                </a:solidFill>
              </a:rPr>
              <a:t>! </a:t>
            </a:r>
            <a:r>
              <a:rPr lang="ru-RU" sz="4000"/>
              <a:t>Представителями  некоторых  течений  сам  </a:t>
            </a:r>
            <a:r>
              <a:rPr b="1" lang="ru-RU" sz="4000"/>
              <a:t>термин</a:t>
            </a:r>
            <a:r>
              <a:rPr lang="ru-RU" sz="4000"/>
              <a:t> «внимание»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3400"/>
              <a:buNone/>
            </a:pPr>
            <a:r>
              <a:rPr b="1" lang="ru-RU" sz="4000"/>
              <a:t>был поставлен под сомнение </a:t>
            </a:r>
            <a:r>
              <a:rPr lang="ru-RU" sz="4000"/>
              <a:t>или не употреблялся вообще (бихевиоризм).  Среди  представителей  гештальтпсихологии единого мнения по этому поводу не было.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aa05d731d5_3_291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t/>
            </a:r>
            <a:endParaRPr/>
          </a:p>
        </p:txBody>
      </p:sp>
      <p:sp>
        <p:nvSpPr>
          <p:cNvPr id="244" name="Google Shape;244;g2aa05d731d5_3_291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	Внимание не является  самостоятельной формой отражения, а выступает как процесс, организующий другие формы отражения (ощущение, восприятие, память, мышление, воображение, эмоции).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aa05d731d5_3_296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Вниманием определяются:</a:t>
            </a:r>
            <a:endParaRPr/>
          </a:p>
        </p:txBody>
      </p:sp>
      <p:sp>
        <p:nvSpPr>
          <p:cNvPr id="250" name="Google Shape;250;g2aa05d731d5_3_296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точность и детализация восприятия (внимание является своеобразным усилителем, позволяющим различать детали изображения);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прочность и избирательность памяти (внимание выступает как фактор, способствующий сохранению нужной информации в кратковременной и оперативной памяти);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направленность и продуктивность мышления (внимание выступает как обязательный фактор правильного понимания и решения задачи).</a:t>
            </a:r>
            <a:endParaRPr/>
          </a:p>
          <a:p>
            <a:pPr indent="-133985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aa05d731d5_3_301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Функции внимания</a:t>
            </a:r>
            <a:endParaRPr/>
          </a:p>
        </p:txBody>
      </p:sp>
      <p:sp>
        <p:nvSpPr>
          <p:cNvPr id="256" name="Google Shape;256;g2aa05d731d5_3_301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отбор значимых для человека воздействий и игнорирование (торможение) несущественных, побочных воздействий;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удержание, сохранение в сознании определенного предметного содержания до тех пор, пока не будет достигнута цель;</a:t>
            </a:r>
            <a:endParaRPr/>
          </a:p>
          <a:p>
            <a:pPr indent="-274320" lvl="0" marL="274320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регуляция  и контроль протекания деятельности.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aa05d731d5_3_306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Феномены внимания</a:t>
            </a:r>
            <a:endParaRPr/>
          </a:p>
        </p:txBody>
      </p:sp>
      <p:sp>
        <p:nvSpPr>
          <p:cNvPr id="262" name="Google Shape;262;g2aa05d731d5_3_306"/>
          <p:cNvSpPr txBox="1"/>
          <p:nvPr>
            <p:ph idx="1" type="body"/>
          </p:nvPr>
        </p:nvSpPr>
        <p:spPr>
          <a:xfrm>
            <a:off x="251520" y="1447800"/>
            <a:ext cx="8435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Субъективные  явления 	           Объективные явления</a:t>
            </a:r>
            <a:endParaRPr/>
          </a:p>
        </p:txBody>
      </p:sp>
      <p:cxnSp>
        <p:nvCxnSpPr>
          <p:cNvPr id="263" name="Google Shape;263;g2aa05d731d5_3_306"/>
          <p:cNvCxnSpPr/>
          <p:nvPr/>
        </p:nvCxnSpPr>
        <p:spPr>
          <a:xfrm flipH="1">
            <a:off x="2411904" y="1196752"/>
            <a:ext cx="1296000" cy="1440300"/>
          </a:xfrm>
          <a:prstGeom prst="straightConnector1">
            <a:avLst/>
          </a:prstGeom>
          <a:noFill/>
          <a:ln cap="flat" cmpd="sng" w="9525">
            <a:solidFill>
              <a:srgbClr val="AE350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64" name="Google Shape;264;g2aa05d731d5_3_306"/>
          <p:cNvCxnSpPr/>
          <p:nvPr/>
        </p:nvCxnSpPr>
        <p:spPr>
          <a:xfrm>
            <a:off x="5004048" y="1196752"/>
            <a:ext cx="1506300" cy="1409400"/>
          </a:xfrm>
          <a:prstGeom prst="straightConnector1">
            <a:avLst/>
          </a:prstGeom>
          <a:noFill/>
          <a:ln cap="flat" cmpd="sng" w="9525">
            <a:solidFill>
              <a:srgbClr val="AE350A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aa05d731d5_3_313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ibre Franklin"/>
              <a:buNone/>
            </a:pPr>
            <a:r>
              <a:rPr lang="ru-RU"/>
              <a:t>Объективные проявления внимания </a:t>
            </a:r>
            <a:endParaRPr/>
          </a:p>
        </p:txBody>
      </p:sp>
      <p:sp>
        <p:nvSpPr>
          <p:cNvPr id="270" name="Google Shape;270;g2aa05d731d5_3_313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•  на психофизиологическом уровне – это такие индикаторы, как биотоки головного мозга, состояние сердечно-сосудистой системы, особенности дыхания, микродвижения глаза и т. п.;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•  на  мышечном,  двигательном  уровне – это  макродвижения тела и конечностей, установочные движения органов чувств (например, установка глаза на объекте внимания и т. п.);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•  характерные поведенческие комплексы (поза внимания, поза невнимания), включающие специфическую мимику, жесты, повороты и наклоны головы и т. д.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aa05d731d5_3_318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Субъективные  проявления</a:t>
            </a:r>
            <a:endParaRPr/>
          </a:p>
        </p:txBody>
      </p:sp>
      <p:sp>
        <p:nvSpPr>
          <p:cNvPr id="276" name="Google Shape;276;g2aa05d731d5_3_318"/>
          <p:cNvSpPr txBox="1"/>
          <p:nvPr>
            <p:ph idx="1" type="body"/>
          </p:nvPr>
        </p:nvSpPr>
        <p:spPr>
          <a:xfrm>
            <a:off x="467544" y="1447800"/>
            <a:ext cx="8219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формальными  характеристиками  когнитивных  содержаний сознания (ясность – смутность, отчетливость – расплывчатость, живость – неподвижность);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характеристиками содержаний аффективной сферы (интерес – отсутствие интереса, удивление – безразличие и т. п.);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характеристиками  содержаний  волевой  сферы (напряженность усилий – отсутствие напряженности, активность – пассивность и т. п.).</a:t>
            </a:r>
            <a:endParaRPr/>
          </a:p>
          <a:p>
            <a:pPr indent="-133985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aa05d731d5_3_323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Субъективно  состояние  внимания</a:t>
            </a:r>
            <a:endParaRPr/>
          </a:p>
        </p:txBody>
      </p:sp>
      <p:sp>
        <p:nvSpPr>
          <p:cNvPr id="282" name="Google Shape;282;g2aa05d731d5_3_323"/>
          <p:cNvSpPr txBox="1"/>
          <p:nvPr>
            <p:ph idx="1" type="body"/>
          </p:nvPr>
        </p:nvSpPr>
        <p:spPr>
          <a:xfrm>
            <a:off x="251520" y="1447800"/>
            <a:ext cx="8435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фокальная часть    	        периферическая часть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700"/>
              <a:buNone/>
            </a:pPr>
            <a:r>
              <a:rPr lang="ru-RU" sz="2000"/>
              <a:t>(в которой объекты 			(настройка органов чувств;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700"/>
              <a:buNone/>
            </a:pPr>
            <a:r>
              <a:rPr lang="ru-RU" sz="2000"/>
              <a:t>осознаются ясно, отчетливо, 		отбор информации по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700"/>
              <a:buNone/>
            </a:pPr>
            <a:r>
              <a:rPr lang="ru-RU" sz="2000"/>
              <a:t>ярко и живо;				 физическим характеристикам)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700"/>
              <a:buNone/>
            </a:pPr>
            <a:r>
              <a:rPr lang="ru-RU" sz="2000"/>
              <a:t>образы в этой части действенны;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700"/>
              <a:buNone/>
            </a:pPr>
            <a:r>
              <a:rPr lang="ru-RU" sz="2000"/>
              <a:t>эмоциональная окраска объекта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700"/>
              <a:buNone/>
            </a:pPr>
            <a:r>
              <a:rPr lang="ru-RU" sz="2000"/>
              <a:t>внимания (эксперимент с сумкой))</a:t>
            </a:r>
            <a:endParaRPr sz="2000"/>
          </a:p>
        </p:txBody>
      </p:sp>
      <p:cxnSp>
        <p:nvCxnSpPr>
          <p:cNvPr id="283" name="Google Shape;283;g2aa05d731d5_3_323"/>
          <p:cNvCxnSpPr/>
          <p:nvPr/>
        </p:nvCxnSpPr>
        <p:spPr>
          <a:xfrm flipH="1">
            <a:off x="2411904" y="1196752"/>
            <a:ext cx="1296000" cy="1440300"/>
          </a:xfrm>
          <a:prstGeom prst="straightConnector1">
            <a:avLst/>
          </a:prstGeom>
          <a:noFill/>
          <a:ln cap="flat" cmpd="sng" w="9525">
            <a:solidFill>
              <a:srgbClr val="AE350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84" name="Google Shape;284;g2aa05d731d5_3_323"/>
          <p:cNvCxnSpPr/>
          <p:nvPr/>
        </p:nvCxnSpPr>
        <p:spPr>
          <a:xfrm>
            <a:off x="5004048" y="1196752"/>
            <a:ext cx="1080000" cy="1440300"/>
          </a:xfrm>
          <a:prstGeom prst="straightConnector1">
            <a:avLst/>
          </a:prstGeom>
          <a:noFill/>
          <a:ln cap="flat" cmpd="sng" w="9525">
            <a:solidFill>
              <a:srgbClr val="AE350A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aa05d731d5_3_330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t/>
            </a:r>
            <a:endParaRPr/>
          </a:p>
        </p:txBody>
      </p:sp>
      <p:sp>
        <p:nvSpPr>
          <p:cNvPr id="290" name="Google Shape;290;g2aa05d731d5_3_330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	Вклад внимания в регуляцию поведения и деятельности человека обеспечивает такие эффекты, как увеличение продуктивности и  качества  деятельности,  приобретение  знаний,  обеспечение  бдительности и др.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	Также внимание может снижать эффективность деятельности.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aa05d731d5_3_335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t/>
            </a:r>
            <a:endParaRPr/>
          </a:p>
        </p:txBody>
      </p:sp>
      <p:sp>
        <p:nvSpPr>
          <p:cNvPr id="296" name="Google Shape;296;g2aa05d731d5_3_335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Невнимание  не  всегда  является  недостатком,  порой оно служит желательным «предохранительным клапаном», который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защищает сознание от информационной перегрузки.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  <p:pic>
        <p:nvPicPr>
          <p:cNvPr id="297" name="Google Shape;297;g2aa05d731d5_3_3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7784" y="4005064"/>
            <a:ext cx="3744416" cy="24917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aa05d731d5_3_341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t/>
            </a:r>
            <a:endParaRPr/>
          </a:p>
        </p:txBody>
      </p:sp>
      <p:sp>
        <p:nvSpPr>
          <p:cNvPr id="303" name="Google Shape;303;g2aa05d731d5_3_341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	Феноменология невнимания представлена различными явлениями, среди которых наиболее известна и изучена рассеянность. 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	Она понимается как неспособность внимания сконцентрироваться на объекте.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aa05d731d5_3_346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Виды рассеянности</a:t>
            </a:r>
            <a:endParaRPr/>
          </a:p>
        </p:txBody>
      </p:sp>
      <p:sp>
        <p:nvSpPr>
          <p:cNvPr id="309" name="Google Shape;309;g2aa05d731d5_3_346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5000"/>
              <a:buChar char="⚫"/>
            </a:pPr>
            <a:r>
              <a:rPr lang="ru-RU"/>
              <a:t> истинная  рассеянность,  называемая  также  отупением  или сонливостью. Ее признаки: преобладание вместо ясных восприятий и представлений неясных и смутных, уменьшение интеллектуального  напряжения,  фиксация  взора  в  пустоту;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85000"/>
              <a:buChar char="⚫"/>
            </a:pPr>
            <a:r>
              <a:rPr lang="ru-RU"/>
              <a:t>мнимая рассеянность, причина которой – глубокая внутренняя концентрация на объекте, в силу чего ее называют также «липким вниманием»;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85000"/>
              <a:buChar char="⚫"/>
            </a:pPr>
            <a:r>
              <a:rPr lang="ru-RU"/>
              <a:t>ученическая рассеянность, в основе которой лежит чрезмерная переключаемость, подвижность внимания, что дало ей название «порхающее внимание»;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85000"/>
              <a:buChar char="⚫"/>
            </a:pPr>
            <a:r>
              <a:rPr lang="ru-RU"/>
              <a:t>старческая рассеянность, возникающая в связи с плохой переключаемостью в сочетании с недостаточно активной концентрацией внимания.</a:t>
            </a:r>
            <a:endParaRPr/>
          </a:p>
          <a:p>
            <a:pPr indent="-155035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aa05d731d5_3_351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Виды невнимания</a:t>
            </a:r>
            <a:endParaRPr/>
          </a:p>
        </p:txBody>
      </p:sp>
      <p:sp>
        <p:nvSpPr>
          <p:cNvPr id="315" name="Google Shape;315;g2aa05d731d5_3_351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•  направленным невниманием, то есть сознательным игнорированием  определенных  объектов (мыслей,  воспоминаний,  ощущений, другого человека и т. п.);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•  привычным невниманием – игнорированием повторяющихся, привычных событий (например, тиканья часов, давления одежды и т. п.).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aa05d731d5_3_356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Отвлекаемость</a:t>
            </a:r>
            <a:r>
              <a:rPr i="1" lang="ru-RU"/>
              <a:t> </a:t>
            </a:r>
            <a:r>
              <a:rPr lang="ru-RU"/>
              <a:t>– это </a:t>
            </a:r>
            <a:endParaRPr/>
          </a:p>
        </p:txBody>
      </p:sp>
      <p:sp>
        <p:nvSpPr>
          <p:cNvPr id="321" name="Google Shape;321;g2aa05d731d5_3_356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непроизвольное перемещение внимания с одного объекта на другой.</a:t>
            </a:r>
            <a:br>
              <a:rPr lang="ru-RU"/>
            </a:br>
            <a:r>
              <a:rPr lang="ru-RU"/>
              <a:t>Отвлекаемость возникает при действии посторонних раздражителей на человека, занятого в этот момент какой-либо деятельностью.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6cca1adf14_0_0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Типы внимания</a:t>
            </a:r>
            <a:endParaRPr/>
          </a:p>
        </p:txBody>
      </p:sp>
      <p:sp>
        <p:nvSpPr>
          <p:cNvPr id="327" name="Google Shape;327;g36cca1adf14_0_0"/>
          <p:cNvSpPr txBox="1"/>
          <p:nvPr>
            <p:ph idx="1" type="body"/>
          </p:nvPr>
        </p:nvSpPr>
        <p:spPr>
          <a:xfrm>
            <a:off x="251520" y="1447800"/>
            <a:ext cx="87849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3985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-133985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-133985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45720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rPr lang="ru-RU" sz="2400"/>
              <a:t>Базовое        		Устойчивое            Селективное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rPr lang="ru-RU" sz="2400"/>
              <a:t>(бдительность или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rPr lang="ru-RU" sz="2400"/>
              <a:t>уровень 								Распределенное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rPr lang="ru-RU" sz="2400"/>
              <a:t>бодрствования )</a:t>
            </a:r>
            <a:endParaRPr sz="2400"/>
          </a:p>
        </p:txBody>
      </p:sp>
      <p:cxnSp>
        <p:nvCxnSpPr>
          <p:cNvPr id="328" name="Google Shape;328;g36cca1adf14_0_0"/>
          <p:cNvCxnSpPr/>
          <p:nvPr/>
        </p:nvCxnSpPr>
        <p:spPr>
          <a:xfrm flipH="1">
            <a:off x="1907564" y="1268760"/>
            <a:ext cx="1440300" cy="1800300"/>
          </a:xfrm>
          <a:prstGeom prst="straightConnector1">
            <a:avLst/>
          </a:prstGeom>
          <a:noFill/>
          <a:ln cap="flat" cmpd="sng" w="9525">
            <a:solidFill>
              <a:srgbClr val="AE350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29" name="Google Shape;329;g36cca1adf14_0_0"/>
          <p:cNvCxnSpPr/>
          <p:nvPr/>
        </p:nvCxnSpPr>
        <p:spPr>
          <a:xfrm>
            <a:off x="4499992" y="1268760"/>
            <a:ext cx="0" cy="1656300"/>
          </a:xfrm>
          <a:prstGeom prst="straightConnector1">
            <a:avLst/>
          </a:prstGeom>
          <a:noFill/>
          <a:ln cap="flat" cmpd="sng" w="9525">
            <a:solidFill>
              <a:srgbClr val="AE350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30" name="Google Shape;330;g36cca1adf14_0_0"/>
          <p:cNvCxnSpPr/>
          <p:nvPr/>
        </p:nvCxnSpPr>
        <p:spPr>
          <a:xfrm>
            <a:off x="5508104" y="1268760"/>
            <a:ext cx="1296000" cy="1512300"/>
          </a:xfrm>
          <a:prstGeom prst="straightConnector1">
            <a:avLst/>
          </a:prstGeom>
          <a:noFill/>
          <a:ln cap="flat" cmpd="sng" w="9525">
            <a:solidFill>
              <a:srgbClr val="AE350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31" name="Google Shape;331;g36cca1adf14_0_0"/>
          <p:cNvCxnSpPr/>
          <p:nvPr/>
        </p:nvCxnSpPr>
        <p:spPr>
          <a:xfrm>
            <a:off x="4798625" y="1202125"/>
            <a:ext cx="423600" cy="3182700"/>
          </a:xfrm>
          <a:prstGeom prst="straightConnector1">
            <a:avLst/>
          </a:prstGeom>
          <a:noFill/>
          <a:ln cap="flat" cmpd="sng" w="9525">
            <a:solidFill>
              <a:srgbClr val="AE350A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2aa05d731d5_3_361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Виды внимания</a:t>
            </a:r>
            <a:endParaRPr/>
          </a:p>
        </p:txBody>
      </p:sp>
      <p:sp>
        <p:nvSpPr>
          <p:cNvPr id="337" name="Google Shape;337;g2aa05d731d5_3_361"/>
          <p:cNvSpPr txBox="1"/>
          <p:nvPr>
            <p:ph idx="1" type="body"/>
          </p:nvPr>
        </p:nvSpPr>
        <p:spPr>
          <a:xfrm>
            <a:off x="251520" y="1447800"/>
            <a:ext cx="87849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3985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-133985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-133985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rPr lang="ru-RU" sz="2400"/>
              <a:t>Произвольное       Непроизвольное        Послепроизвольное</a:t>
            </a:r>
            <a:endParaRPr sz="2400"/>
          </a:p>
        </p:txBody>
      </p:sp>
      <p:cxnSp>
        <p:nvCxnSpPr>
          <p:cNvPr id="338" name="Google Shape;338;g2aa05d731d5_3_361"/>
          <p:cNvCxnSpPr/>
          <p:nvPr/>
        </p:nvCxnSpPr>
        <p:spPr>
          <a:xfrm flipH="1">
            <a:off x="1907564" y="1268760"/>
            <a:ext cx="1440300" cy="1800300"/>
          </a:xfrm>
          <a:prstGeom prst="straightConnector1">
            <a:avLst/>
          </a:prstGeom>
          <a:noFill/>
          <a:ln cap="flat" cmpd="sng" w="9525">
            <a:solidFill>
              <a:srgbClr val="AE350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39" name="Google Shape;339;g2aa05d731d5_3_361"/>
          <p:cNvCxnSpPr/>
          <p:nvPr/>
        </p:nvCxnSpPr>
        <p:spPr>
          <a:xfrm>
            <a:off x="4499992" y="1268760"/>
            <a:ext cx="0" cy="1656300"/>
          </a:xfrm>
          <a:prstGeom prst="straightConnector1">
            <a:avLst/>
          </a:prstGeom>
          <a:noFill/>
          <a:ln cap="flat" cmpd="sng" w="9525">
            <a:solidFill>
              <a:srgbClr val="AE350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40" name="Google Shape;340;g2aa05d731d5_3_361"/>
          <p:cNvCxnSpPr/>
          <p:nvPr/>
        </p:nvCxnSpPr>
        <p:spPr>
          <a:xfrm>
            <a:off x="5508104" y="1268760"/>
            <a:ext cx="1296000" cy="1512300"/>
          </a:xfrm>
          <a:prstGeom prst="straightConnector1">
            <a:avLst/>
          </a:prstGeom>
          <a:noFill/>
          <a:ln cap="flat" cmpd="sng" w="9525">
            <a:solidFill>
              <a:srgbClr val="AE350A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2aa05d731d5_3_369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i="1" lang="ru-RU"/>
              <a:t>Произвольное внимание</a:t>
            </a:r>
            <a:endParaRPr/>
          </a:p>
        </p:txBody>
      </p:sp>
      <p:sp>
        <p:nvSpPr>
          <p:cNvPr id="346" name="Google Shape;346;g2aa05d731d5_3_369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– это сознательно регулируемое сосредоточение на объекте, направляемое требованиями деятельности.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	Произвольного внимания связано с постановкой цели деятельности и волевым усилием. 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	Произвольное сосредоточение на объекте предполагает волевое усилие, которое и поддерживает внимание. 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2aa05d731d5_3_374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b="1" lang="ru-RU"/>
              <a:t>Непроизвольное внимание</a:t>
            </a:r>
            <a:r>
              <a:rPr lang="ru-RU"/>
              <a:t> – это </a:t>
            </a:r>
            <a:endParaRPr/>
          </a:p>
        </p:txBody>
      </p:sp>
      <p:sp>
        <p:nvSpPr>
          <p:cNvPr id="352" name="Google Shape;352;g2aa05d731d5_3_374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сосредоточение сознания на объекте в силу его особенности как раздражителя.</a:t>
            </a:r>
            <a:endParaRPr/>
          </a:p>
          <a:p>
            <a:pPr indent="-133985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	Более сильный раздражитель на фоне действующих привлекает внимание человека. Вызывает непроизвольное внимание новизна раздражителя, начало и прекращение действия раздражителя.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2aa05d731d5_3_379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t/>
            </a:r>
            <a:endParaRPr/>
          </a:p>
        </p:txBody>
      </p:sp>
      <p:sp>
        <p:nvSpPr>
          <p:cNvPr id="358" name="Google Shape;358;g2aa05d731d5_3_379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	Первичное НВ – врожденное и является естественным проявлением безусловно ориентированного рефлекса. В проявлении такого внимания играет роль сила раздражителя и его неожиданность ( громкие звуки, яркий свет и т.п.)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	Вторичное НВ тоже не требует волевого усилия, внимание определяется содержанием предмета, которое отмечает  направленности и интересам человека.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2aa05d731d5_3_384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i="1" lang="ru-RU"/>
              <a:t>Послепроизвольное внимание </a:t>
            </a:r>
            <a:r>
              <a:rPr lang="ru-RU"/>
              <a:t>- это </a:t>
            </a:r>
            <a:endParaRPr/>
          </a:p>
        </p:txBody>
      </p:sp>
      <p:sp>
        <p:nvSpPr>
          <p:cNvPr id="364" name="Google Shape;364;g2aa05d731d5_3_384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внимание, возникающее на основе произвольного, после него, когда для его поддержания уже не требуется волевых усилий.</a:t>
            </a:r>
            <a:br>
              <a:rPr lang="ru-RU"/>
            </a:br>
            <a:r>
              <a:rPr lang="ru-RU"/>
              <a:t>По психологическим характеристикам послепроизвольное внимание близко к непроизвольному: оно также возникает на основе интереса к предмету, но характер интереса в этом случае иной - он проявляется к результату деятельности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2aa05d731d5_3_389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Внимание характеризуется:</a:t>
            </a:r>
            <a:endParaRPr/>
          </a:p>
        </p:txBody>
      </p:sp>
      <p:sp>
        <p:nvSpPr>
          <p:cNvPr id="370" name="Google Shape;370;g2aa05d731d5_3_389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объем;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2aa05d731d5_3_394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i="1" lang="ru-RU"/>
              <a:t>Объем внимания</a:t>
            </a:r>
            <a:endParaRPr/>
          </a:p>
        </p:txBody>
      </p:sp>
      <p:sp>
        <p:nvSpPr>
          <p:cNvPr id="376" name="Google Shape;376;g2aa05d731d5_3_394"/>
          <p:cNvSpPr txBox="1"/>
          <p:nvPr>
            <p:ph idx="1" type="body"/>
          </p:nvPr>
        </p:nvSpPr>
        <p:spPr>
          <a:xfrm>
            <a:off x="842950" y="1293025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 измеряется количеством объектов, воспринимаемых одномоментно. Установлено, что при восприятии множества простых объектов в течение 1 – 1,5 сек. объем внимания у взрослого человека в среднем равен 7 – 9 элементам.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2aa05d731d5_3_399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Внимание характеризуется:</a:t>
            </a:r>
            <a:endParaRPr/>
          </a:p>
        </p:txBody>
      </p:sp>
      <p:sp>
        <p:nvSpPr>
          <p:cNvPr id="382" name="Google Shape;382;g2aa05d731d5_3_399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объем;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переключение;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распределение;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концентрация;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устойчивость;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избирательность.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"/>
          <p:cNvSpPr txBox="1"/>
          <p:nvPr>
            <p:ph idx="1" type="subTitle"/>
          </p:nvPr>
        </p:nvSpPr>
        <p:spPr>
          <a:xfrm>
            <a:off x="1295400" y="3200400"/>
            <a:ext cx="64008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  <p:sp>
        <p:nvSpPr>
          <p:cNvPr id="388" name="Google Shape;388;p1"/>
          <p:cNvSpPr txBox="1"/>
          <p:nvPr>
            <p:ph type="ctrTitle"/>
          </p:nvPr>
        </p:nvSpPr>
        <p:spPr>
          <a:xfrm>
            <a:off x="457200" y="1505930"/>
            <a:ext cx="82296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Libre Franklin"/>
              <a:buNone/>
            </a:pPr>
            <a:r>
              <a:rPr lang="ru-RU"/>
              <a:t>Память: модели, структуры, процессы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"/>
          <p:cNvSpPr txBox="1"/>
          <p:nvPr>
            <p:ph type="title"/>
          </p:nvPr>
        </p:nvSpPr>
        <p:spPr>
          <a:xfrm>
            <a:off x="914400" y="30478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Память — это</a:t>
            </a:r>
            <a:endParaRPr/>
          </a:p>
        </p:txBody>
      </p:sp>
      <p:sp>
        <p:nvSpPr>
          <p:cNvPr id="394" name="Google Shape;394;p2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способность живой системы фиксировать факт взаимодействия со средой (внешней или внутренней), сохранять результат этого взаимодействия в форме опыта и использовать его в поведении. 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Большинство экспериментальных исследований, посвященных памяти, проводилось исходя из негласной трактовки последней как процесса (или инстанции, механизма), включенного в познание.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t/>
            </a:r>
            <a:endParaRPr/>
          </a:p>
        </p:txBody>
      </p:sp>
      <p:sp>
        <p:nvSpPr>
          <p:cNvPr id="400" name="Google Shape;400;p3"/>
          <p:cNvSpPr txBox="1"/>
          <p:nvPr>
            <p:ph idx="1" type="body"/>
          </p:nvPr>
        </p:nvSpPr>
        <p:spPr>
          <a:xfrm>
            <a:off x="251520" y="1447800"/>
            <a:ext cx="843528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	Никакая другая тема не изучалась когнитивными психологами более тщательно, чем память, именно исследования памяти определяли в первые дни когнитивной революции развитие когнитивной психологии.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t/>
            </a:r>
            <a:endParaRPr/>
          </a:p>
        </p:txBody>
      </p:sp>
      <p:sp>
        <p:nvSpPr>
          <p:cNvPr id="406" name="Google Shape;406;p4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ru-RU" sz="4000"/>
              <a:t>Как происходит процесс переработки информации</a:t>
            </a:r>
            <a:endParaRPr/>
          </a:p>
        </p:txBody>
      </p:sp>
      <p:pic>
        <p:nvPicPr>
          <p:cNvPr id="407" name="Google Shape;40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07904" y="2996952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Германа Эббингауза</a:t>
            </a:r>
            <a:endParaRPr/>
          </a:p>
        </p:txBody>
      </p:sp>
      <p:sp>
        <p:nvSpPr>
          <p:cNvPr id="413" name="Google Shape;413;p5"/>
          <p:cNvSpPr txBox="1"/>
          <p:nvPr>
            <p:ph idx="1" type="body"/>
          </p:nvPr>
        </p:nvSpPr>
        <p:spPr>
          <a:xfrm>
            <a:off x="323528" y="1447800"/>
            <a:ext cx="8363272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	Первое научное описание экспериментов с памятью. 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	Он искал ответ на вопрос: «Как формируется и развивается память?».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	Для этого в своих экспериментах он использовал бессмысленные слоги.</a:t>
            </a:r>
            <a:endParaRPr/>
          </a:p>
        </p:txBody>
      </p:sp>
      <p:pic>
        <p:nvPicPr>
          <p:cNvPr id="414" name="Google Shape;41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04248" y="3787730"/>
            <a:ext cx="1424408" cy="1657493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5"/>
          <p:cNvSpPr/>
          <p:nvPr/>
        </p:nvSpPr>
        <p:spPr>
          <a:xfrm>
            <a:off x="5945088" y="5661248"/>
            <a:ext cx="25708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Германа Эббингауз</a:t>
            </a:r>
            <a:endParaRPr b="0" i="0" sz="18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(1850-1909, Германия)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6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Кривая забывания</a:t>
            </a:r>
            <a:endParaRPr/>
          </a:p>
        </p:txBody>
      </p:sp>
      <p:sp>
        <p:nvSpPr>
          <p:cNvPr id="421" name="Google Shape;421;p6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3985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  <p:pic>
        <p:nvPicPr>
          <p:cNvPr descr="&amp;Kcy;&amp;rcy;&amp;icy;&amp;vcy;&amp;acy;&amp;yacy; &amp;zcy;&amp;acy;&amp;bcy;&amp;ycy;&amp;vcy;&amp;acy;&amp;ncy;&amp;icy;&amp;yacy; &amp;Ecy;&amp;bcy;&amp;bcy;&amp;icy;&amp;ncy;&amp;gcy;&amp;acy;&amp;ucy;&amp;zcy;&amp;acy;: 4 &amp;ocy;&amp;scy;&amp;ncy;&amp;ocy;&amp;vcy;&amp;ncy;&amp;ycy;&amp;khcy; &amp;scy;&amp;pcy;&amp;ocy;&amp;scy;&amp;ocy;&amp;bcy;&amp;acy; &amp;pcy;&amp;ocy;&amp;vcy;&amp;tcy;&amp;ocy;&amp;rcy;&amp;iecy;&amp;ncy;&amp;icy;&amp;yacy;" id="422" name="Google Shape;42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7624" y="1323821"/>
            <a:ext cx="6984777" cy="5128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7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t/>
            </a:r>
            <a:endParaRPr/>
          </a:p>
        </p:txBody>
      </p:sp>
      <p:sp>
        <p:nvSpPr>
          <p:cNvPr id="428" name="Google Shape;428;p7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	В 2015 году нидерландские учёные Джаап Мурр и Джори Дрос подтвердили концепцию Эббингауза.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8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Режим рационального повторения</a:t>
            </a:r>
            <a:endParaRPr/>
          </a:p>
        </p:txBody>
      </p:sp>
      <p:sp>
        <p:nvSpPr>
          <p:cNvPr id="434" name="Google Shape;434;p8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b="1" lang="ru-RU"/>
              <a:t>Если есть два дня</a:t>
            </a:r>
            <a:r>
              <a:rPr lang="ru-RU"/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первое повторение — сразу по окончании чтения;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второе повторение — через 20 минут после первого повторения;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третье повторение — через 8 часов после второго;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четвёртое повторение — через 24 часа после третьего. 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Режим рационального повторения</a:t>
            </a:r>
            <a:endParaRPr/>
          </a:p>
        </p:txBody>
      </p:sp>
      <p:sp>
        <p:nvSpPr>
          <p:cNvPr id="440" name="Google Shape;440;p9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b="1" lang="ru-RU"/>
              <a:t>Если нужно помнить очень долго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первое повторение — сразу по окончании чтения;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второе повторение — через 20—30 минут после первого повторения;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третье повторение — через 1 день после второго;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четвёртое повторение — через 2—3 недели после третьего;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пятое повторение — через 2—3 месяца после четвёртого повторения.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0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Уильям Джемс</a:t>
            </a:r>
            <a:endParaRPr/>
          </a:p>
        </p:txBody>
      </p:sp>
      <p:sp>
        <p:nvSpPr>
          <p:cNvPr id="446" name="Google Shape;446;p10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	Искал ответ на вопрос: «Почему одни воспоминания хранятся в памяти  не долго, а другие оставляют неизгладимый след в памяти?».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Он выделил непосредственную (первичную) память и косвенную (вторичную) память.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Вторичная память – вместилище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информации, однажды пережитой,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но с трудом поддающейся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извлечению.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Первичная память никогда не покидает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сознание и дает верное представление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о только что  воспринятых событиях.</a:t>
            </a:r>
            <a:endParaRPr/>
          </a:p>
        </p:txBody>
      </p:sp>
      <p:pic>
        <p:nvPicPr>
          <p:cNvPr id="447" name="Google Shape;44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224" y="3022693"/>
            <a:ext cx="2108820" cy="2440764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10"/>
          <p:cNvSpPr/>
          <p:nvPr/>
        </p:nvSpPr>
        <p:spPr>
          <a:xfrm>
            <a:off x="6588224" y="5470494"/>
            <a:ext cx="243001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Уильям Джемс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(1842–1910, США)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1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ibre Franklin"/>
              <a:buNone/>
            </a:pPr>
            <a:r>
              <a:rPr lang="ru-RU"/>
              <a:t>Модель  И.  Во  и  Д.  Нормана (1965 г.)</a:t>
            </a:r>
            <a:endParaRPr/>
          </a:p>
        </p:txBody>
      </p:sp>
      <p:sp>
        <p:nvSpPr>
          <p:cNvPr id="454" name="Google Shape;454;p11"/>
          <p:cNvSpPr txBox="1"/>
          <p:nvPr>
            <p:ph idx="1" type="body"/>
          </p:nvPr>
        </p:nvSpPr>
        <p:spPr>
          <a:xfrm>
            <a:off x="395536" y="1447800"/>
            <a:ext cx="8291264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	В основе модели лежит деление памяти на первичную и вторичную, причем  они  независимы  друг  от  друга.  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	Первичная  память  имеет ограниченный объем, и информация в ней теряется не просто в зависимости от времени, но и за счет вытеснения «старых» элементов новыми.  Первичная  память  удерживает  вербальную  информацию и позволяет осуществлять дословное  воспроизведение.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2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ibre Franklin"/>
              <a:buNone/>
            </a:pPr>
            <a:r>
              <a:rPr lang="ru-RU"/>
              <a:t>Модель  Р.  Аткинсона  и  Р.  Шифрина (1968 г.)</a:t>
            </a:r>
            <a:endParaRPr/>
          </a:p>
        </p:txBody>
      </p:sp>
      <p:sp>
        <p:nvSpPr>
          <p:cNvPr id="460" name="Google Shape;460;p12"/>
          <p:cNvSpPr txBox="1"/>
          <p:nvPr>
            <p:ph idx="1" type="body"/>
          </p:nvPr>
        </p:nvSpPr>
        <p:spPr>
          <a:xfrm>
            <a:off x="395536" y="1447800"/>
            <a:ext cx="8291400" cy="51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5000"/>
              <a:buNone/>
            </a:pPr>
            <a:r>
              <a:rPr lang="ru-RU"/>
              <a:t>	Термином «память» они обозначили  данные,  подлежащие  сохранению,  а  термином «хранилище» – структурный элемент, в котором эти данные хранятся.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lang="ru-RU"/>
              <a:t>Существуют 3 хранилища информации: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lang="ru-RU"/>
              <a:t> 1) сенсорный регистр (здесь входной стимул непосредственно 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lang="ru-RU"/>
              <a:t>регистрируется в соответствующей сенсорной модальности и либо теряется, либо передается дальше в обработку); 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lang="ru-RU"/>
              <a:t>2) кратковременное  хранилище (рабочая система, в которой входная информация затухает и быстро исчезает, за исключением ситуаций, когда она попадает в «буфер повторения», где может храниться дольше и передаваться в долговременное хранилище); 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lang="ru-RU"/>
              <a:t>3) долговременное хранилище (информация, содержащаяся в нем, относительно постоянная, несмотря на  то  что  она  может  быть  недоступна  вследствие  интерференции  с входной информацией).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3"/>
          <p:cNvSpPr txBox="1"/>
          <p:nvPr>
            <p:ph type="title"/>
          </p:nvPr>
        </p:nvSpPr>
        <p:spPr>
          <a:xfrm>
            <a:off x="467544" y="274638"/>
            <a:ext cx="8219256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ibre Franklin"/>
              <a:buNone/>
            </a:pPr>
            <a:r>
              <a:rPr lang="ru-RU"/>
              <a:t>Модель уровневой обработки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ibre Franklin"/>
              <a:buNone/>
            </a:pPr>
            <a:r>
              <a:rPr lang="ru-RU"/>
              <a:t>Ф. Крэйка и Р. Локхарта (1972 г.)</a:t>
            </a:r>
            <a:endParaRPr/>
          </a:p>
        </p:txBody>
      </p:sp>
      <p:sp>
        <p:nvSpPr>
          <p:cNvPr id="466" name="Google Shape;466;p13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5000"/>
              <a:buNone/>
            </a:pPr>
            <a:r>
              <a:rPr lang="ru-RU"/>
              <a:t>Входные стимулы, согласно этой модели, подвергаются ряду аналитических процедур на разных уровнях: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lang="ru-RU"/>
              <a:t>1) поверхностный сенсорный анализ;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lang="ru-RU"/>
              <a:t>2) подетальный анализ;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lang="ru-RU"/>
              <a:t>3)  механизмы  распознавания  паттернов  и  выделения  значений;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lang="ru-RU"/>
              <a:t>4)  формирование  долговременных  ассоциаций.  У  элемента,  обработанного на глубоком уровне, меньше шансов быть забытым,  чем у того, что обрабатывался на поверхностном уровне.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lang="ru-RU"/>
              <a:t>	Память здесь является, в сущности, побочным продуктом обработки информации, и сохранение ее следов прямо зависит от глубины обработки.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4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ibre Franklin"/>
              <a:buNone/>
            </a:pPr>
            <a:r>
              <a:rPr lang="ru-RU"/>
              <a:t>Модель  памяти  Э.  Тулвинга (1995 г.)</a:t>
            </a:r>
            <a:endParaRPr/>
          </a:p>
        </p:txBody>
      </p:sp>
      <p:sp>
        <p:nvSpPr>
          <p:cNvPr id="472" name="Google Shape;472;p14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	Он предложил модель организации памяти, состоящую из пяти систем: память оперативная, эпизодическая, семантическая, процедурная и пропозициональная.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5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ibre Franklin"/>
              <a:buNone/>
            </a:pPr>
            <a:r>
              <a:rPr lang="ru-RU"/>
              <a:t>Модель  памяти  Э.  Тулвинга (1995 г.)</a:t>
            </a:r>
            <a:endParaRPr/>
          </a:p>
        </p:txBody>
      </p:sp>
      <p:sp>
        <p:nvSpPr>
          <p:cNvPr id="478" name="Google Shape;478;p15"/>
          <p:cNvSpPr txBox="1"/>
          <p:nvPr>
            <p:ph idx="1" type="body"/>
          </p:nvPr>
        </p:nvSpPr>
        <p:spPr>
          <a:xfrm>
            <a:off x="323528" y="1447800"/>
            <a:ext cx="8363272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5000"/>
              <a:buNone/>
            </a:pPr>
            <a:r>
              <a:rPr lang="ru-RU"/>
              <a:t>	Процедурная,  низшая  форма  памяти  сохраняет  связи  между стимулами и реакциями (ассоциативная память). Эта память связана  с  приобретением,  сохранением  и  применением  умений и навыков. 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lang="ru-RU"/>
              <a:t>	Семантическая память имеет дело с представлением знаний  о мире, это память на слова, понятия, правила, абстрактные идеи.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lang="ru-RU"/>
              <a:t>	Эпизодическая память связана с запоминанием лично переживаемых событий. Она подвержена изменениям или потерям информации, но она важна, поскольку составляет основу для опознания событий, людей и мест, встречавшихся в прошлом.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lang="ru-RU"/>
              <a:t>	Также были выделены дополнительные типы памяти: оперативная (память на содержание) и пропозициональная память (память на намерения).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6"/>
          <p:cNvSpPr txBox="1"/>
          <p:nvPr>
            <p:ph type="title"/>
          </p:nvPr>
        </p:nvSpPr>
        <p:spPr>
          <a:xfrm>
            <a:off x="824750" y="30478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Дискретный подход </a:t>
            </a:r>
            <a:endParaRPr/>
          </a:p>
        </p:txBody>
      </p:sp>
      <p:sp>
        <p:nvSpPr>
          <p:cNvPr id="484" name="Google Shape;484;p16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5000"/>
              <a:buChar char="⚫"/>
            </a:pPr>
            <a:r>
              <a:rPr lang="ru-RU"/>
              <a:t>сведение  памяти  к определенным фазам.</a:t>
            </a:r>
            <a:endParaRPr/>
          </a:p>
          <a:p>
            <a:pPr indent="-14451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lang="ru-RU"/>
              <a:t>	Основным аргументом в пользу стадийного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lang="ru-RU"/>
              <a:t>понимания сущности психического процесса являются эмпирически отчетливо выделяемые и относительно независимые факты запоминания, хранения, припоминания и забывания.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ct val="85000"/>
              <a:buNone/>
            </a:pPr>
            <a:r>
              <a:rPr lang="ru-RU" sz="4800">
                <a:solidFill>
                  <a:srgbClr val="FF0000"/>
                </a:solidFill>
              </a:rPr>
              <a:t>!</a:t>
            </a:r>
            <a:r>
              <a:rPr lang="ru-RU"/>
              <a:t> Несмотря на их независимость, фазы составляют единую мнемическую систему и могут быть разделены лишь искусственно при соответствующей постановке эксперимента.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7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Остается вопрос</a:t>
            </a:r>
            <a:endParaRPr/>
          </a:p>
        </p:txBody>
      </p:sp>
      <p:sp>
        <p:nvSpPr>
          <p:cNvPr id="490" name="Google Shape;490;p17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Как происходит трансформация информации в пределах одной стадии — дискретно или континуально и как (дискретно или континуально) передается информация на следующую стадию</a:t>
            </a:r>
            <a:endParaRPr/>
          </a:p>
        </p:txBody>
      </p:sp>
      <p:pic>
        <p:nvPicPr>
          <p:cNvPr id="491" name="Google Shape;49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5695" y="4014733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8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Континуальный подход</a:t>
            </a:r>
            <a:endParaRPr/>
          </a:p>
        </p:txBody>
      </p:sp>
      <p:sp>
        <p:nvSpPr>
          <p:cNvPr id="497" name="Google Shape;497;p18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 в основу стадий процесса когнитивной переработки предлагается положить идеологию нечетких множеств.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9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Основные мнемические процессы</a:t>
            </a:r>
            <a:endParaRPr/>
          </a:p>
        </p:txBody>
      </p:sp>
      <p:sp>
        <p:nvSpPr>
          <p:cNvPr id="503" name="Google Shape;503;p19"/>
          <p:cNvSpPr txBox="1"/>
          <p:nvPr>
            <p:ph idx="1" type="body"/>
          </p:nvPr>
        </p:nvSpPr>
        <p:spPr>
          <a:xfrm>
            <a:off x="323528" y="1447800"/>
            <a:ext cx="8363272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449263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b="1" lang="ru-RU"/>
              <a:t>Мнемические процессы</a:t>
            </a:r>
            <a:r>
              <a:rPr lang="ru-RU"/>
              <a:t> – это процессы, обеспечивающие запоминание, сохранение и воспроизведение в головном мозге информации, полученной при взаимодействии человека с окружающим миром. </a:t>
            </a:r>
            <a:endParaRPr/>
          </a:p>
          <a:p>
            <a:pPr indent="449263" lvl="0" marL="0" rtl="0" algn="just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К мнемическим процессам относятся представления и память.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0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"/>
              <a:buNone/>
            </a:pPr>
            <a:r>
              <a:rPr b="1" i="1" lang="ru-RU" sz="4000" u="none" strike="noStrike">
                <a:latin typeface="Times"/>
                <a:ea typeface="Times"/>
                <a:cs typeface="Times"/>
                <a:sym typeface="Times"/>
              </a:rPr>
              <a:t>Запоминание</a:t>
            </a:r>
            <a:endParaRPr/>
          </a:p>
        </p:txBody>
      </p:sp>
      <p:sp>
        <p:nvSpPr>
          <p:cNvPr id="509" name="Google Shape;509;p20"/>
          <p:cNvSpPr txBox="1"/>
          <p:nvPr>
            <p:ph idx="1" type="body"/>
          </p:nvPr>
        </p:nvSpPr>
        <p:spPr>
          <a:xfrm>
            <a:off x="311658" y="1433901"/>
            <a:ext cx="8363272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для оценки запоминания, его продуктивности и длительности используются две парадигмы: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Font typeface="Libre Baskerville"/>
              <a:buChar char="-"/>
            </a:pPr>
            <a:r>
              <a:rPr lang="ru-RU"/>
              <a:t>запоминание с одного раза;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Font typeface="Libre Baskerville"/>
              <a:buChar char="-"/>
            </a:pPr>
            <a:r>
              <a:rPr lang="ru-RU"/>
              <a:t>запоминание после многократных повторов (насыщенное).</a:t>
            </a:r>
            <a:endParaRPr/>
          </a:p>
          <a:p>
            <a:pPr indent="-133985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Font typeface="Libre Baskerville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При этом фиксируют такие факторы, как: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Font typeface="Libre Baskerville"/>
              <a:buChar char="-"/>
            </a:pPr>
            <a:r>
              <a:rPr lang="ru-RU"/>
              <a:t>условия воспроизведения,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Font typeface="Libre Baskerville"/>
              <a:buChar char="-"/>
            </a:pPr>
            <a:r>
              <a:rPr lang="ru-RU"/>
              <a:t>запоминаемый материал.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1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imes"/>
              <a:buNone/>
            </a:pPr>
            <a:r>
              <a:rPr b="1" i="1" lang="ru-RU" sz="2800" u="none" strike="noStrike">
                <a:latin typeface="Times"/>
                <a:ea typeface="Times"/>
                <a:cs typeface="Times"/>
                <a:sym typeface="Times"/>
              </a:rPr>
              <a:t>Запоминание</a:t>
            </a:r>
            <a:endParaRPr b="1" sz="2800"/>
          </a:p>
        </p:txBody>
      </p:sp>
      <p:sp>
        <p:nvSpPr>
          <p:cNvPr id="515" name="Google Shape;515;p21"/>
          <p:cNvSpPr txBox="1"/>
          <p:nvPr>
            <p:ph idx="1" type="body"/>
          </p:nvPr>
        </p:nvSpPr>
        <p:spPr>
          <a:xfrm>
            <a:off x="323528" y="1447800"/>
            <a:ext cx="8363272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449263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Длительности запоминания: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- краткосрочное,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- оперативное,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- длительное.</a:t>
            </a:r>
            <a:endParaRPr/>
          </a:p>
          <a:p>
            <a:pPr indent="-133985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! Некоторые авторы отождествляют длительность запоминания и продолжительность хранения информации,  в таком случае говорят о кратковременной, оперативной и долговременной памяти.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22"/>
          <p:cNvSpPr txBox="1"/>
          <p:nvPr>
            <p:ph type="title"/>
          </p:nvPr>
        </p:nvSpPr>
        <p:spPr>
          <a:xfrm>
            <a:off x="914400" y="274638"/>
            <a:ext cx="7772400" cy="77809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Классификация запоминания</a:t>
            </a:r>
            <a:endParaRPr/>
          </a:p>
        </p:txBody>
      </p:sp>
      <p:sp>
        <p:nvSpPr>
          <p:cNvPr id="521" name="Google Shape;521;p22"/>
          <p:cNvSpPr txBox="1"/>
          <p:nvPr>
            <p:ph idx="1" type="body"/>
          </p:nvPr>
        </p:nvSpPr>
        <p:spPr>
          <a:xfrm>
            <a:off x="899592" y="1124744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i="0" lang="ru-RU" sz="2000" u="none" strike="noStrike"/>
              <a:t>Характер целей: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700"/>
              <a:buChar char="⚫"/>
            </a:pPr>
            <a:r>
              <a:rPr b="0" i="0" lang="ru-RU" sz="2000" u="none" strike="noStrike"/>
              <a:t>намеренное, произвольное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700"/>
              <a:buChar char="⚫"/>
            </a:pPr>
            <a:r>
              <a:rPr b="0" i="0" lang="ru-RU" sz="2000" u="none" strike="noStrike"/>
              <a:t>ненамеренное, непроизвольное.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700"/>
              <a:buNone/>
            </a:pPr>
            <a:r>
              <a:rPr b="0" i="0" lang="ru-RU" sz="2000" u="none" strike="noStrike"/>
              <a:t>Используемые средства в процессе запоминания: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700"/>
              <a:buChar char="⚫"/>
            </a:pPr>
            <a:r>
              <a:rPr lang="ru-RU" sz="2000"/>
              <a:t>непосредственное,</a:t>
            </a:r>
            <a:endParaRPr b="0" i="0" sz="2000" u="none" strike="noStrike"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700"/>
              <a:buChar char="⚫"/>
            </a:pPr>
            <a:r>
              <a:rPr b="0" i="0" lang="ru-RU" sz="2000" u="none" strike="noStrike"/>
              <a:t>опосредованное.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700"/>
              <a:buNone/>
            </a:pPr>
            <a:r>
              <a:rPr lang="ru-RU" sz="2000"/>
              <a:t>Запоминаемый материал: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700"/>
              <a:buChar char="⚫"/>
            </a:pPr>
            <a:r>
              <a:rPr lang="ru-RU" sz="2000"/>
              <a:t>визуальную,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700"/>
              <a:buChar char="⚫"/>
            </a:pPr>
            <a:r>
              <a:rPr lang="ru-RU" sz="2000"/>
              <a:t>слуховую,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700"/>
              <a:buChar char="⚫"/>
            </a:pPr>
            <a:r>
              <a:rPr lang="ru-RU" sz="2000"/>
              <a:t>образную,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700"/>
              <a:buChar char="⚫"/>
            </a:pPr>
            <a:r>
              <a:rPr lang="ru-RU" sz="2000"/>
              <a:t>вербальную,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700"/>
              <a:buChar char="⚫"/>
            </a:pPr>
            <a:r>
              <a:rPr lang="ru-RU" sz="2000"/>
              <a:t>моторную,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700"/>
              <a:buChar char="⚫"/>
            </a:pPr>
            <a:r>
              <a:rPr lang="ru-RU" sz="2000"/>
              <a:t>эмоциональную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1700"/>
              <a:buChar char="⚫"/>
            </a:pPr>
            <a:r>
              <a:rPr lang="ru-RU" sz="2000"/>
              <a:t>и т.д.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3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Запоминание зависит от:</a:t>
            </a:r>
            <a:endParaRPr/>
          </a:p>
        </p:txBody>
      </p:sp>
      <p:sp>
        <p:nvSpPr>
          <p:cNvPr id="527" name="Google Shape;527;p23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0"/>
              <a:buChar char="⚫"/>
            </a:pPr>
            <a:r>
              <a:rPr b="0" i="0" lang="ru-RU" sz="2400" u="none" strike="noStrike"/>
              <a:t>осмысленности и бессмысленности материала,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040"/>
              <a:buChar char="⚫"/>
            </a:pPr>
            <a:r>
              <a:rPr b="0" i="0" lang="ru-RU" sz="2400" u="none" strike="noStrike"/>
              <a:t>объема материала,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040"/>
              <a:buChar char="⚫"/>
            </a:pPr>
            <a:r>
              <a:rPr b="0" i="0" lang="ru-RU" sz="2400" u="none" strike="noStrike"/>
              <a:t>степень однородности материала,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040"/>
              <a:buChar char="⚫"/>
            </a:pPr>
            <a:r>
              <a:rPr b="0" i="0" lang="ru-RU" sz="2400" u="none" strike="noStrike"/>
              <a:t>последовательность запоминания.</a:t>
            </a:r>
            <a:endParaRPr/>
          </a:p>
          <a:p>
            <a:pPr indent="-14478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040"/>
              <a:buNone/>
            </a:pPr>
            <a:r>
              <a:rPr lang="ru-RU" sz="2400"/>
              <a:t>Феномены запоминания: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040"/>
              <a:buChar char="⚫"/>
            </a:pPr>
            <a:r>
              <a:rPr lang="ru-RU" sz="2400"/>
              <a:t>эффект длины,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040"/>
              <a:buChar char="⚫"/>
            </a:pPr>
            <a:r>
              <a:rPr lang="ru-RU" sz="2400"/>
              <a:t>эффект привычности,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040"/>
              <a:buChar char="⚫"/>
            </a:pPr>
            <a:r>
              <a:rPr lang="ru-RU" sz="2400"/>
              <a:t>эффект края.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24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Хранение</a:t>
            </a:r>
            <a:endParaRPr/>
          </a:p>
        </p:txBody>
      </p:sp>
      <p:sp>
        <p:nvSpPr>
          <p:cNvPr id="533" name="Google Shape;533;p24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b="1" lang="ru-RU" sz="4000">
                <a:solidFill>
                  <a:srgbClr val="FF0000"/>
                </a:solidFill>
              </a:rPr>
              <a:t>!</a:t>
            </a:r>
            <a:r>
              <a:rPr lang="ru-RU"/>
              <a:t> Все, что успешно прошло через запоминание, вовсе не обязательно успешно хранится.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Виды хранения: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Font typeface="Libre Baskerville"/>
              <a:buChar char="-"/>
            </a:pPr>
            <a:r>
              <a:rPr lang="ru-RU"/>
              <a:t>динамическое хранение проявляется в оперативной памяти, при нем информация изменяется мало;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Font typeface="Libre Baskerville"/>
              <a:buChar char="-"/>
            </a:pPr>
            <a:r>
              <a:rPr lang="ru-RU"/>
              <a:t>статическое проявляется в долговременной,  информация обязательно подвергается реконструкции, переработке.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25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Характеристики хранения</a:t>
            </a:r>
            <a:endParaRPr/>
          </a:p>
        </p:txBody>
      </p:sp>
      <p:sp>
        <p:nvSpPr>
          <p:cNvPr id="539" name="Google Shape;539;p25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продуктивность хранения;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длительность хранения.</a:t>
            </a:r>
            <a:endParaRPr/>
          </a:p>
          <a:p>
            <a:pPr indent="-133985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Феномен интерференции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одна информация препятствует (затрудняет) хранение другой (соответственно, предыдущей или последующей).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26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t/>
            </a:r>
            <a:endParaRPr/>
          </a:p>
        </p:txBody>
      </p:sp>
      <p:sp>
        <p:nvSpPr>
          <p:cNvPr id="545" name="Google Shape;545;p26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О  хранении  информации  и  ее  видоизменении  можно  судить только по узнаванию и воспроизведению.</a:t>
            </a:r>
            <a:endParaRPr/>
          </a:p>
          <a:p>
            <a:pPr indent="-133985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-133985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  <p:pic>
        <p:nvPicPr>
          <p:cNvPr descr="Думающий человек нарисованный." id="546" name="Google Shape;54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8104" y="2636912"/>
            <a:ext cx="2609850" cy="304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7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Воспроизведение –</a:t>
            </a:r>
            <a:endParaRPr/>
          </a:p>
        </p:txBody>
      </p:sp>
      <p:sp>
        <p:nvSpPr>
          <p:cNvPr id="552" name="Google Shape;552;p27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мнемический процесс, в котором происходит  актуализация  ранее  сформированного  психологического содержания (мысли, образы, чувства, движения).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Виды: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Font typeface="Arial"/>
              <a:buChar char="•"/>
            </a:pPr>
            <a:r>
              <a:rPr lang="ru-RU"/>
              <a:t>непосредственное;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Font typeface="Arial"/>
              <a:buChar char="•"/>
            </a:pPr>
            <a:r>
              <a:rPr lang="ru-RU"/>
              <a:t>отсроченное.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28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ibre Franklin"/>
              <a:buNone/>
            </a:pPr>
            <a:r>
              <a:rPr lang="ru-RU"/>
              <a:t>Виды процедур воспроизведения:</a:t>
            </a:r>
            <a:endParaRPr/>
          </a:p>
        </p:txBody>
      </p:sp>
      <p:sp>
        <p:nvSpPr>
          <p:cNvPr id="558" name="Google Shape;558;p28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прямые (припоминание);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косвенные  (узнавание).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3740"/>
              <a:buNone/>
            </a:pPr>
            <a:r>
              <a:rPr lang="ru-RU" sz="4400"/>
              <a:t>V</a:t>
            </a:r>
            <a:r>
              <a:rPr lang="ru-RU"/>
              <a:t>припом.   &lt; </a:t>
            </a:r>
            <a:r>
              <a:rPr lang="ru-RU" sz="4000"/>
              <a:t>V</a:t>
            </a:r>
            <a:r>
              <a:rPr lang="ru-RU"/>
              <a:t>узнавания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При припоминание важную роль играет контекст.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Тульвинг [1989] показал, что припоминание зависит от сходства контекста кодирования и контекста припоминания (физического и аффективного).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29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Ошибки воспроизведения:</a:t>
            </a:r>
            <a:endParaRPr/>
          </a:p>
        </p:txBody>
      </p:sp>
      <p:sp>
        <p:nvSpPr>
          <p:cNvPr id="564" name="Google Shape;564;p29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контаминация (перепутывание);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конфабуляция (домысливание).</a:t>
            </a:r>
            <a:endParaRPr/>
          </a:p>
          <a:p>
            <a:pPr indent="-133985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  <p:pic>
        <p:nvPicPr>
          <p:cNvPr id="565" name="Google Shape;56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3728" y="2924944"/>
            <a:ext cx="6029400" cy="3391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30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Узнавание – </a:t>
            </a:r>
            <a:endParaRPr/>
          </a:p>
        </p:txBody>
      </p:sp>
      <p:sp>
        <p:nvSpPr>
          <p:cNvPr id="571" name="Google Shape;571;p30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опознание, как уже известного, объекта, который находится в центре актуального восприятия.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Выделяют: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•  индивидуальное узнавание предмета, как повторное восприятие именно данного предмета;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•  родовое узнавание предмета, когда вновь воспринимаемый предмет может быть отнесен к какому-то классу предметов.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31"/>
          <p:cNvSpPr txBox="1"/>
          <p:nvPr>
            <p:ph type="title"/>
          </p:nvPr>
        </p:nvSpPr>
        <p:spPr>
          <a:xfrm>
            <a:off x="251520" y="274638"/>
            <a:ext cx="84352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t/>
            </a:r>
            <a:endParaRPr b="1"/>
          </a:p>
        </p:txBody>
      </p:sp>
      <p:sp>
        <p:nvSpPr>
          <p:cNvPr id="577" name="Google Shape;577;p31"/>
          <p:cNvSpPr txBox="1"/>
          <p:nvPr>
            <p:ph idx="1" type="body"/>
          </p:nvPr>
        </p:nvSpPr>
        <p:spPr>
          <a:xfrm>
            <a:off x="323528" y="1447800"/>
            <a:ext cx="8363272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60"/>
              <a:buNone/>
            </a:pPr>
            <a:r>
              <a:t/>
            </a:r>
            <a:endParaRPr b="1" sz="3600"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3060"/>
              <a:buNone/>
            </a:pPr>
            <a:r>
              <a:t/>
            </a:r>
            <a:endParaRPr b="1" sz="3600"/>
          </a:p>
          <a:p>
            <a:pPr indent="0" lvl="0" marL="0" rtl="0" algn="ctr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3060"/>
              <a:buNone/>
            </a:pPr>
            <a:r>
              <a:rPr b="1" lang="ru-RU" sz="3600"/>
              <a:t>Точность и скорость узнавания</a:t>
            </a:r>
            <a:br>
              <a:rPr b="1" lang="ru-RU" sz="3600"/>
            </a:br>
            <a:r>
              <a:rPr b="1" lang="ru-RU" sz="3600"/>
              <a:t> зависят от материала.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3060"/>
              <a:buNone/>
            </a:pPr>
            <a:r>
              <a:t/>
            </a:r>
            <a:endParaRPr b="1" sz="3600"/>
          </a:p>
          <a:p>
            <a:pPr indent="0" lvl="0" marL="0" rtl="0" algn="ctr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720"/>
              <a:buNone/>
            </a:pPr>
            <a:r>
              <a:rPr b="1" lang="ru-RU" sz="3200"/>
              <a:t> Знакомый материал узнается точнее,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720"/>
              <a:buNone/>
            </a:pPr>
            <a:r>
              <a:rPr b="1" lang="ru-RU" sz="3200"/>
              <a:t>а осмысленный — быстрее</a:t>
            </a:r>
            <a:endParaRPr/>
          </a:p>
          <a:p>
            <a:pPr indent="-133985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32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Забывание – </a:t>
            </a:r>
            <a:endParaRPr/>
          </a:p>
        </p:txBody>
      </p:sp>
      <p:sp>
        <p:nvSpPr>
          <p:cNvPr id="583" name="Google Shape;583;p32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потеря способности к воспроизведению ранее полученной информации.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33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Теории забывания</a:t>
            </a:r>
            <a:endParaRPr/>
          </a:p>
        </p:txBody>
      </p:sp>
      <p:sp>
        <p:nvSpPr>
          <p:cNvPr id="589" name="Google Shape;589;p33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3985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34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Теория затухания</a:t>
            </a:r>
            <a:endParaRPr/>
          </a:p>
        </p:txBody>
      </p:sp>
      <p:sp>
        <p:nvSpPr>
          <p:cNvPr id="595" name="Google Shape;595;p34"/>
          <p:cNvSpPr txBox="1"/>
          <p:nvPr>
            <p:ph idx="1" type="body"/>
          </p:nvPr>
        </p:nvSpPr>
        <p:spPr>
          <a:xfrm>
            <a:off x="683568" y="1340768"/>
            <a:ext cx="7772400" cy="486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Информация из кратковременной памяти может быть передана в долговременную память посредством повторения.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Если информация не используется или не повторяется, то со временем происходит ее забывание.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В результате обработки информации возникает «след» – определенное изменение в нервной ткани, этот след при его неиспользовании угасает.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35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Критика теории затухания</a:t>
            </a:r>
            <a:endParaRPr/>
          </a:p>
        </p:txBody>
      </p:sp>
      <p:sp>
        <p:nvSpPr>
          <p:cNvPr id="601" name="Google Shape;601;p35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она не может адекватно объяснить влияние процессов, происходящих между первоначальным научением и последующим воспроизведением. 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на забывание могут влиять последующие события, способные блокировать воспроизведение старых воспоминаний. </a:t>
            </a:r>
            <a:endParaRPr/>
          </a:p>
          <a:p>
            <a:pPr indent="-133985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36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Теория  интерференции. </a:t>
            </a:r>
            <a:endParaRPr/>
          </a:p>
        </p:txBody>
      </p:sp>
      <p:sp>
        <p:nvSpPr>
          <p:cNvPr id="607" name="Google Shape;607;p36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Между  конкретными  стимулами и конкретными реакциями образуются ассоциативные связи, которые сохраняются в памяти так долго, пока другая конкурирующая информация не будет интерферировать с ними.</a:t>
            </a:r>
            <a:endParaRPr/>
          </a:p>
          <a:p>
            <a:pPr indent="-133985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Торможение: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 - ретроактивное торможение проявляется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в эффекте подавления старого материала новым,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-  проактивное торможение – в подавлении нового материала старым.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37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Теория  ситуативного  забывания.</a:t>
            </a:r>
            <a:endParaRPr/>
          </a:p>
        </p:txBody>
      </p:sp>
      <p:sp>
        <p:nvSpPr>
          <p:cNvPr id="613" name="Google Shape;613;p37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Невозможность  воспроизвести информацию не обязательно означает, что воспоминания потеряны, но что они могут быть недоступны вследствие несоответствия между  признаками  во  время  кодирования  и  признаками  во  время воспроизведения.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38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Парадигма С. Стернберга</a:t>
            </a:r>
            <a:endParaRPr/>
          </a:p>
        </p:txBody>
      </p:sp>
      <p:sp>
        <p:nvSpPr>
          <p:cNvPr id="619" name="Google Shape;619;p38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Объем КП есть величина, зависимая от скорости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сканирования.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Ход эксперимента (1969)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Испытуемому предъявлялся набор из нескольких цифр (от 1 до 6), а затем следовала тестовая цифра; требовалось как можно быстрее сказать, была ли эта цифра в наборе.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39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Результаты эксперимента</a:t>
            </a:r>
            <a:endParaRPr/>
          </a:p>
        </p:txBody>
      </p:sp>
      <p:sp>
        <p:nvSpPr>
          <p:cNvPr id="625" name="Google Shape;625;p39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время ответа линейно возрастает вместе с количеством цифр в наборе;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время, необходимое для сканирования каждого единичного стимула, равняется 38 мс;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 вне зависимости от ответа (да или нет) время ответа остается одним и тем же.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40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t/>
            </a:r>
            <a:endParaRPr/>
          </a:p>
        </p:txBody>
      </p:sp>
      <p:sp>
        <p:nvSpPr>
          <p:cNvPr id="631" name="Google Shape;631;p40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 Было выяснено, что разные виды и типы памяти различаются форматом, в котором хранится информация.</a:t>
            </a:r>
            <a:endParaRPr/>
          </a:p>
        </p:txBody>
      </p:sp>
      <p:pic>
        <p:nvPicPr>
          <p:cNvPr id="632" name="Google Shape;632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4048" y="2763693"/>
            <a:ext cx="3168352" cy="34211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41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ibre Franklin"/>
              <a:buNone/>
            </a:pPr>
            <a:r>
              <a:rPr lang="ru-RU"/>
              <a:t>Семантическая организация памяти</a:t>
            </a:r>
            <a:endParaRPr/>
          </a:p>
        </p:txBody>
      </p:sp>
      <p:sp>
        <p:nvSpPr>
          <p:cNvPr id="638" name="Google Shape;638;p41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Семантическая  структура позволяет нам идентифицировать то, что хранится в памяти, и определить, как связаны между собой  хранящиеся там понятия.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Исследования можно разделить на 2 позиции: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ассоцианистский подход, который сосредоточен на функциональных связях между понятиями,</a:t>
            </a:r>
            <a:endParaRPr/>
          </a:p>
          <a:p>
            <a:pPr indent="-274320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когнитивный подход, который сосредоточен на мысленных структурах, характеризующих отношения между значением и памятью.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  <a:p>
            <a:pPr indent="-133985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42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Кластерная модель</a:t>
            </a:r>
            <a:endParaRPr/>
          </a:p>
        </p:txBody>
      </p:sp>
      <p:sp>
        <p:nvSpPr>
          <p:cNvPr id="644" name="Google Shape;644;p42"/>
          <p:cNvSpPr txBox="1"/>
          <p:nvPr>
            <p:ph idx="1" type="body"/>
          </p:nvPr>
        </p:nvSpPr>
        <p:spPr>
          <a:xfrm>
            <a:off x="395536" y="1447800"/>
            <a:ext cx="8291264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Согласно этой модели, понятия, представленные в виде слов в памяти, хранятся систематизировано – в виде кластеров,  или  скоплений  сходных  элементов. 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43"/>
          <p:cNvSpPr txBox="1"/>
          <p:nvPr>
            <p:ph type="title"/>
          </p:nvPr>
        </p:nvSpPr>
        <p:spPr>
          <a:xfrm>
            <a:off x="914400" y="24918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Групповая модель.</a:t>
            </a:r>
            <a:endParaRPr/>
          </a:p>
        </p:txBody>
      </p:sp>
      <p:sp>
        <p:nvSpPr>
          <p:cNvPr id="650" name="Google Shape;650;p43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	Понятия представлены в памяти в виде групп, или скоплений информации. Но в отличие от кластерной, в групповой модели понятия объединяются в памяти не только по категориям (например, орел, сова, ворона находятся в кластере «птицы»), но и по признакам (например, «имеет крылья», «летает», «имеет перья» – это признаки «птиц»).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44"/>
          <p:cNvSpPr txBox="1"/>
          <p:nvPr>
            <p:ph type="title"/>
          </p:nvPr>
        </p:nvSpPr>
        <p:spPr>
          <a:xfrm>
            <a:off x="467544" y="274638"/>
            <a:ext cx="8219256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ibre Franklin"/>
              <a:buNone/>
            </a:pPr>
            <a:r>
              <a:rPr lang="ru-RU"/>
              <a:t>Модель  сравнительных  семантических  признаков.</a:t>
            </a:r>
            <a:endParaRPr/>
          </a:p>
        </p:txBody>
      </p:sp>
      <p:sp>
        <p:nvSpPr>
          <p:cNvPr id="656" name="Google Shape;656;p44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Char char="⚫"/>
            </a:pPr>
            <a:r>
              <a:rPr lang="ru-RU"/>
              <a:t> Понятия представлены в памяти в виде набора семантических признаков.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Типа признаков: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1) определяющие признаки – те, что образуют существенные аспекты значения слова, без которых слово не может быть отнесено к данной категории;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rPr lang="ru-RU"/>
              <a:t>2) характерные признаки – те, что свойственны элементу, но несущественны для отнесения его к данной категории.</a:t>
            </a:r>
            <a:endParaRPr/>
          </a:p>
          <a:p>
            <a:pPr indent="-133985" lvl="0" marL="27432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45"/>
          <p:cNvSpPr txBox="1"/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Libre Franklin"/>
              <a:buNone/>
            </a:pPr>
            <a:r>
              <a:rPr lang="ru-RU"/>
              <a:t>Сетевая модель.</a:t>
            </a:r>
            <a:endParaRPr/>
          </a:p>
        </p:txBody>
      </p:sp>
      <p:sp>
        <p:nvSpPr>
          <p:cNvPr id="662" name="Google Shape;662;p45"/>
          <p:cNvSpPr txBox="1"/>
          <p:nvPr>
            <p:ph idx="1" type="body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ru-RU"/>
              <a:t>Понятия существуют в памяти как независимые  единицы,  объединенные  в  сеть.  Хранение  слов  обусловлено сложной сетью связей, нaпример, элементы «птица» и «малиновка» хранятся в связи друг с другом: «малиновка есть птица».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Справедливость">
  <a:themeElements>
    <a:clrScheme name="Справедливость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Справедливость">
  <a:themeElements>
    <a:clrScheme name="Справедливость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2022-09-30T00:23:34Z</dcterms:created>
  <dc:creator>Julija</dc:creator>
</cp:coreProperties>
</file>