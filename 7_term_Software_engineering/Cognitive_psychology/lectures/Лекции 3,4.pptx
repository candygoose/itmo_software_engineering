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y="6858000" cx="9144000"/>
  <p:notesSz cx="6858000" cy="9144000"/>
  <p:embeddedFontLst>
    <p:embeddedFont>
      <p:font typeface="Corsiva"/>
      <p:regular r:id="rId82"/>
      <p:bold r:id="rId83"/>
      <p:italic r:id="rId84"/>
      <p:boldItalic r:id="rId85"/>
    </p:embeddedFont>
    <p:embeddedFont>
      <p:font typeface="Libre Franklin"/>
      <p:regular r:id="rId86"/>
      <p:bold r:id="rId87"/>
      <p:italic r:id="rId88"/>
      <p:boldItalic r:id="rId89"/>
    </p:embeddedFont>
    <p:embeddedFont>
      <p:font typeface="Pacifico"/>
      <p:regular r:id="rId90"/>
    </p:embeddedFont>
    <p:embeddedFont>
      <p:font typeface="Libre Baskerville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5" roundtripDataSignature="AMtx7mjcsEXLNkxjVfh13Jv8wORM2wku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6FCF5F-738B-410C-819C-FFBADBAFC49C}">
  <a:tblStyle styleId="{6B6FCF5F-738B-410C-819C-FFBADBAFC49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orsiva-italic.fntdata"/><Relationship Id="rId83" Type="http://schemas.openxmlformats.org/officeDocument/2006/relationships/font" Target="fonts/Corsiva-bold.fntdata"/><Relationship Id="rId42" Type="http://schemas.openxmlformats.org/officeDocument/2006/relationships/slide" Target="slides/slide36.xml"/><Relationship Id="rId86" Type="http://schemas.openxmlformats.org/officeDocument/2006/relationships/font" Target="fonts/LibreFranklin-regular.fntdata"/><Relationship Id="rId41" Type="http://schemas.openxmlformats.org/officeDocument/2006/relationships/slide" Target="slides/slide35.xml"/><Relationship Id="rId85" Type="http://schemas.openxmlformats.org/officeDocument/2006/relationships/font" Target="fonts/Corsiva-boldItalic.fntdata"/><Relationship Id="rId44" Type="http://schemas.openxmlformats.org/officeDocument/2006/relationships/slide" Target="slides/slide38.xml"/><Relationship Id="rId88" Type="http://schemas.openxmlformats.org/officeDocument/2006/relationships/font" Target="fonts/LibreFranklin-italic.fntdata"/><Relationship Id="rId43" Type="http://schemas.openxmlformats.org/officeDocument/2006/relationships/slide" Target="slides/slide37.xml"/><Relationship Id="rId87" Type="http://schemas.openxmlformats.org/officeDocument/2006/relationships/font" Target="fonts/LibreFranklin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LibreFranklin-boldItalic.fntdata"/><Relationship Id="rId80" Type="http://schemas.openxmlformats.org/officeDocument/2006/relationships/slide" Target="slides/slide74.xml"/><Relationship Id="rId82" Type="http://schemas.openxmlformats.org/officeDocument/2006/relationships/font" Target="fonts/Corsiva-regular.fntdata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customschemas.google.com/relationships/presentationmetadata" Target="metadata"/><Relationship Id="rId50" Type="http://schemas.openxmlformats.org/officeDocument/2006/relationships/slide" Target="slides/slide44.xml"/><Relationship Id="rId94" Type="http://schemas.openxmlformats.org/officeDocument/2006/relationships/font" Target="fonts/LibreBaskerville-boldItalic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LibreBaskerville-regular.fntdata"/><Relationship Id="rId90" Type="http://schemas.openxmlformats.org/officeDocument/2006/relationships/font" Target="fonts/Pacifico-regular.fntdata"/><Relationship Id="rId93" Type="http://schemas.openxmlformats.org/officeDocument/2006/relationships/font" Target="fonts/LibreBaskerville-italic.fntdata"/><Relationship Id="rId92" Type="http://schemas.openxmlformats.org/officeDocument/2006/relationships/font" Target="fonts/LibreBaskerville-bold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641b005a78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641b005a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641b005a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1641b005a7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378a41bab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378a41ba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8" name="Google Shape;548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0" name="Google Shape;57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7" name="Google Shape;597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26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26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2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6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26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26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" name="Google Shape;32;p2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" name="Google Shape;33;p29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0" name="Google Shape;40;p29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" name="Google Shape;55;p33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6" name="Google Shape;56;p33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34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p34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0" name="Google Shape;70;p34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1" name="Google Shape;71;p34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25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p2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8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3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457200" y="1505930"/>
            <a:ext cx="8229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ibre Franklin"/>
              <a:buNone/>
            </a:pPr>
            <a:r>
              <a:rPr lang="ru-RU">
                <a:solidFill>
                  <a:schemeClr val="lt1"/>
                </a:solidFill>
              </a:rPr>
              <a:t>Ощущение и восприятие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Обнаружение сенсорных сигналов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Процесс переработки информации (Роберт Солсо)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1990831" y="2276872"/>
            <a:ext cx="6768752" cy="21602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Внутренние процессы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539552" y="2708920"/>
            <a:ext cx="1152128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Энергия стимула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5220072" y="2564904"/>
            <a:ext cx="3312368" cy="7728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Сенсорное обнаружение, иконическое/эхоническое хранение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3851920" y="2689684"/>
            <a:ext cx="1152128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Преобразование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2148880" y="2716361"/>
            <a:ext cx="1343000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Сенсорная системы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2555776" y="4869160"/>
            <a:ext cx="1728192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Внешняя деятельность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5399760" y="3649944"/>
            <a:ext cx="2988664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Деятельность ЦНС и кодирование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2987824" y="3666735"/>
            <a:ext cx="2016224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Память и преобразование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109" name="Google Shape;109;p20"/>
          <p:cNvCxnSpPr>
            <a:endCxn id="105" idx="1"/>
          </p:cNvCxnSpPr>
          <p:nvPr/>
        </p:nvCxnSpPr>
        <p:spPr>
          <a:xfrm>
            <a:off x="1691680" y="3013697"/>
            <a:ext cx="457200" cy="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0" name="Google Shape;110;p20"/>
          <p:cNvCxnSpPr/>
          <p:nvPr/>
        </p:nvCxnSpPr>
        <p:spPr>
          <a:xfrm>
            <a:off x="3452196" y="3013720"/>
            <a:ext cx="457200" cy="2667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1" name="Google Shape;111;p20"/>
          <p:cNvCxnSpPr/>
          <p:nvPr/>
        </p:nvCxnSpPr>
        <p:spPr>
          <a:xfrm flipH="1" rot="10800000">
            <a:off x="4971207" y="2951330"/>
            <a:ext cx="228600" cy="356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2" name="Google Shape;112;p20"/>
          <p:cNvCxnSpPr/>
          <p:nvPr/>
        </p:nvCxnSpPr>
        <p:spPr>
          <a:xfrm>
            <a:off x="6588224" y="3364433"/>
            <a:ext cx="0" cy="30230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3" name="Google Shape;113;p20"/>
          <p:cNvCxnSpPr/>
          <p:nvPr/>
        </p:nvCxnSpPr>
        <p:spPr>
          <a:xfrm>
            <a:off x="3516911" y="4314807"/>
            <a:ext cx="0" cy="5543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" name="Google Shape;114;p20"/>
          <p:cNvCxnSpPr>
            <a:stCxn id="107" idx="1"/>
          </p:cNvCxnSpPr>
          <p:nvPr/>
        </p:nvCxnSpPr>
        <p:spPr>
          <a:xfrm rot="10800000">
            <a:off x="5004060" y="3973980"/>
            <a:ext cx="39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" name="Google Shape;115;p20"/>
          <p:cNvCxnSpPr>
            <a:stCxn id="106" idx="1"/>
          </p:cNvCxnSpPr>
          <p:nvPr/>
        </p:nvCxnSpPr>
        <p:spPr>
          <a:xfrm rot="10800000">
            <a:off x="827476" y="3337696"/>
            <a:ext cx="1728300" cy="1855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641b005a78_0_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Сенсорное хранение (</a:t>
            </a:r>
            <a:r>
              <a:rPr lang="ru-RU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У. Найссер</a:t>
            </a:r>
            <a:r>
              <a:rPr lang="ru-RU"/>
              <a:t>)</a:t>
            </a:r>
            <a:endParaRPr/>
          </a:p>
        </p:txBody>
      </p:sp>
      <p:sp>
        <p:nvSpPr>
          <p:cNvPr id="121" name="Google Shape;121;g1641b005a78_0_5"/>
          <p:cNvSpPr txBox="1"/>
          <p:nvPr/>
        </p:nvSpPr>
        <p:spPr>
          <a:xfrm>
            <a:off x="525275" y="1750275"/>
            <a:ext cx="4047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Иконическая память</a:t>
            </a:r>
            <a:endParaRPr b="1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Обеспечивает сохранность  зрительных  впечатлений  и  их  кратковременную 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доступность для дальнейшей обработки.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Длительность хранения 250 мс.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Иконическое хранилище может кратковременно удерживать зрительную 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информацию в ее исходном виде  и с большой детальностью. Оно 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является довольно примитивным видом памяти, в котором инфор-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мация  не  преобразуется  и  не  связывается  с  другой  информацией.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122" name="Google Shape;122;g1641b005a78_0_5"/>
          <p:cNvCxnSpPr>
            <a:endCxn id="121" idx="0"/>
          </p:cNvCxnSpPr>
          <p:nvPr/>
        </p:nvCxnSpPr>
        <p:spPr>
          <a:xfrm flipH="1">
            <a:off x="2548775" y="1417575"/>
            <a:ext cx="926700" cy="3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g1641b005a78_0_5"/>
          <p:cNvCxnSpPr/>
          <p:nvPr/>
        </p:nvCxnSpPr>
        <p:spPr>
          <a:xfrm>
            <a:off x="4504600" y="1271100"/>
            <a:ext cx="778800" cy="5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g1641b005a78_0_5"/>
          <p:cNvSpPr txBox="1"/>
          <p:nvPr/>
        </p:nvSpPr>
        <p:spPr>
          <a:xfrm>
            <a:off x="4927925" y="1931525"/>
            <a:ext cx="3555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-RU" sz="19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Эхоическая память</a:t>
            </a:r>
            <a:endParaRPr b="1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Сенсорная слуховая память </a:t>
            </a:r>
            <a:endParaRPr b="0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Время хранения в эхоической памяти составляет от 250 мс до 4 с. </a:t>
            </a:r>
            <a:endParaRPr b="0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Обнаружение сенсорных сигналов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это начальный этап обработки информации, все элементы которого относительно конкретны и осязаемы.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 Стимулы,  интенсивность которых выше определенного уровня, активируют чувствительные рецепторы.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Обработка сенсорных сигналов зависит от знаний человека о мире.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Концепция дискретности</a:t>
            </a:r>
            <a:br>
              <a:rPr lang="ru-RU"/>
            </a:br>
            <a:r>
              <a:rPr lang="ru-RU"/>
              <a:t>(прерывности) сенсорного ряда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Сенсорный ряд — диапазон наших ощущений — прерывен (дискретен): ощущение может исчезнуть даже при наличии физического воздействия. До определенных пределов ощущение есть, а потом пропадает, как свет, когда щелкнули выключателем.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Основоположник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Г.Т. Фехнер</a:t>
            </a: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331" y="3950268"/>
            <a:ext cx="4024032" cy="278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641b005a78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Типы порогов чувствительности</a:t>
            </a:r>
            <a:endParaRPr/>
          </a:p>
        </p:txBody>
      </p:sp>
      <p:sp>
        <p:nvSpPr>
          <p:cNvPr id="143" name="Google Shape;143;g1641b005a78_0_0"/>
          <p:cNvSpPr/>
          <p:nvPr/>
        </p:nvSpPr>
        <p:spPr>
          <a:xfrm>
            <a:off x="927847" y="2393576"/>
            <a:ext cx="3375212" cy="371138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Абсолютный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Абсолютный порог чувствительности — это такая величина стимула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(физического раздражителя), ниже которой ощущения от стимула не возникает, а выше — возникает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Например: слышим звук или нет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1641b005a78_0_0"/>
          <p:cNvCxnSpPr/>
          <p:nvPr/>
        </p:nvCxnSpPr>
        <p:spPr>
          <a:xfrm flipH="1">
            <a:off x="2581835" y="1385047"/>
            <a:ext cx="1048871" cy="10085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145" name="Google Shape;145;g1641b005a78_0_0"/>
          <p:cNvSpPr/>
          <p:nvPr/>
        </p:nvSpPr>
        <p:spPr>
          <a:xfrm>
            <a:off x="5141259" y="2411504"/>
            <a:ext cx="3227293" cy="35724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Дифференциальный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или разностный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Величина физического различия между стимулами, больше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которой мы их различаем, а меньше которой — нет.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Например: отличие голоса одного человека от другого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1641b005a78_0_0"/>
          <p:cNvCxnSpPr/>
          <p:nvPr/>
        </p:nvCxnSpPr>
        <p:spPr>
          <a:xfrm>
            <a:off x="5141260" y="1223682"/>
            <a:ext cx="896469" cy="118782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618565" y="274638"/>
            <a:ext cx="80682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Теория непрерывности сенсорного ряда  (основоположник  Мюллер)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914400" y="14176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Вероятность обнаружения сигнала по мере роста его интенсивности не изменяется скачкообразно, а растет постепенно.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Любой стимул может вызвать ощущение.</a:t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Восприятие сигнала зависит от  расположенность сенсорной системы к ощущению</a:t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(оно зависит от множества случайных, плохо контролируемых факторов: усталости наблюдателя, степени его внимательности, мотивации, опыта и т. п.)</a:t>
            </a:r>
            <a:endParaRPr/>
          </a:p>
        </p:txBody>
      </p:sp>
      <p:sp>
        <p:nvSpPr>
          <p:cNvPr id="153" name="Google Shape;153;p23"/>
          <p:cNvSpPr/>
          <p:nvPr/>
        </p:nvSpPr>
        <p:spPr>
          <a:xfrm>
            <a:off x="4195482" y="2393576"/>
            <a:ext cx="537882" cy="7799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618565" y="274638"/>
            <a:ext cx="80682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Теория непрерывности сенсорного ряда  (основоположник  Мюллер)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Вероятность обнаружения сигнала по мере роста его интенсивности не изменяется скачкообразно, а растет постепенно.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Любой стимул может вызвать ощущение.</a:t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Восприятие сигнала зависит от  расположенность сенсорной системы к ощущению</a:t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(оно зависит от множества случайных, плохо контролируемых факторов: </a:t>
            </a:r>
            <a:r>
              <a:rPr lang="ru-RU">
                <a:solidFill>
                  <a:srgbClr val="FF0000"/>
                </a:solidFill>
              </a:rPr>
              <a:t>усталости наблюдателя</a:t>
            </a:r>
            <a:r>
              <a:rPr lang="ru-RU"/>
              <a:t>, </a:t>
            </a:r>
            <a:r>
              <a:rPr lang="ru-RU">
                <a:solidFill>
                  <a:srgbClr val="00B050"/>
                </a:solidFill>
              </a:rPr>
              <a:t>степени его внимательности, мотивации, опыта </a:t>
            </a:r>
            <a:r>
              <a:rPr lang="ru-RU"/>
              <a:t>и т. п.)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4195482" y="2393576"/>
            <a:ext cx="537882" cy="7799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 Теории обнаружения сигнала</a:t>
            </a:r>
            <a:br>
              <a:rPr lang="ru-RU"/>
            </a:br>
            <a:r>
              <a:rPr lang="ru-RU"/>
              <a:t>(Грин, Светсом)</a:t>
            </a:r>
            <a:endParaRPr/>
          </a:p>
        </p:txBody>
      </p:sp>
      <p:sp>
        <p:nvSpPr>
          <p:cNvPr id="166" name="Google Shape;166;p3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501650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Любой сигнал воспринимается на фоне шума, который нельзя отключить</a:t>
            </a:r>
            <a:endParaRPr/>
          </a:p>
          <a:p>
            <a:pPr indent="501650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Это  приводит к тому, что сигнал сливается с шумом и наблюдателю необходимо отличить сигнал от шума.</a:t>
            </a:r>
            <a:endParaRPr/>
          </a:p>
          <a:p>
            <a:pPr indent="501650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Сенсорная система работает по непрерывному принципу, все равно обнаружение сигнала — вероятностный процесс.</a:t>
            </a:r>
            <a:endParaRPr/>
          </a:p>
          <a:p>
            <a:pPr indent="501650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Например: человек идет по палубе и качается. Вопрос является ли он пьяным или нет?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Правильность ответа на этот вопрос  зависит от:</a:t>
            </a:r>
            <a:endParaRPr/>
          </a:p>
        </p:txBody>
      </p:sp>
      <p:sp>
        <p:nvSpPr>
          <p:cNvPr id="172" name="Google Shape;172;p3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собственно сенсорных способностей анализаторов (слуха, зрения и т.д.)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несенсорного компонента, компонента принятия решения.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4000">
                <a:solidFill>
                  <a:schemeClr val="accent1"/>
                </a:solidFill>
              </a:rPr>
              <a:t>!</a:t>
            </a:r>
            <a:r>
              <a:rPr lang="ru-RU"/>
              <a:t> Одной из главных заслуг авторов теории обнаружения сигнала является введение в структуру сенсорного процесса составляющей принятия решения.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Теория двух состояний Люса</a:t>
            </a:r>
            <a:endParaRPr/>
          </a:p>
        </p:txBody>
      </p:sp>
      <p:sp>
        <p:nvSpPr>
          <p:cNvPr id="178" name="Google Shape;178;p3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07988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Исходная позиция – допущение о дискретности сенсорного ряда.</a:t>
            </a:r>
            <a:endParaRPr/>
          </a:p>
          <a:p>
            <a:pPr indent="407988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Также теория включает наличие внесенсорных факторов обнаружения и различения сигналов, признание существования неопределенности, связанной с работой самой сенсорной системы.</a:t>
            </a:r>
            <a:endParaRPr/>
          </a:p>
          <a:p>
            <a:pPr indent="407988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Существует независимый механизм угадывания как выход из ситуации неопределенности.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Стратегии обнаружения сигнала</a:t>
            </a:r>
            <a:endParaRPr/>
          </a:p>
        </p:txBody>
      </p:sp>
      <p:sp>
        <p:nvSpPr>
          <p:cNvPr id="184" name="Google Shape;184;p4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b="1" lang="ru-RU"/>
              <a:t>Стратегии риска</a:t>
            </a:r>
            <a:r>
              <a:rPr lang="ru-RU"/>
              <a:t>, которая вызвана стремлением увеличить число обнаружений (например, когда важно не пропустить сигнал).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b="1" lang="ru-RU"/>
              <a:t>Стратегии осторожности</a:t>
            </a:r>
            <a:r>
              <a:rPr lang="ru-RU"/>
              <a:t>, связанной со стремлением наблюдателя «напрасно не беспокоиться», что выражается в полном или частичном отказе от угадывания, в избегании ложных тревог.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b="1" lang="ru-RU"/>
              <a:t>Стратегии следования сенсорным впечатлениям</a:t>
            </a:r>
            <a:r>
              <a:rPr lang="ru-RU"/>
              <a:t>, суть которой состоит в том, что наблюдатель пытается не принимать во внимание ничего, кроме самих сенсорных впечатлений, быть непредвзятым.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>
                <a:solidFill>
                  <a:schemeClr val="dk1"/>
                </a:solidFill>
              </a:rPr>
              <a:t>Психические процессы</a:t>
            </a:r>
            <a:r>
              <a:rPr lang="ru-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90" name="Google Shape;190;p4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 sz="2800"/>
              <a:t>это психические явления, обеспечивающие первичное отражение и осознание личностью воздействий окружающей действительности.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Ощущение - это</a:t>
            </a:r>
            <a:endParaRPr/>
          </a:p>
        </p:txBody>
      </p:sp>
      <p:sp>
        <p:nvSpPr>
          <p:cNvPr id="196" name="Google Shape;196;p4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 sz="2400"/>
              <a:t>это психический познавательный процесс отражения в сознании человека отдельных свойств и качеств предметов и явлений, непосредственно воздействующих на органы чувств.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Физиологический механизм ощущений</a:t>
            </a:r>
            <a:endParaRPr/>
          </a:p>
        </p:txBody>
      </p:sp>
      <p:sp>
        <p:nvSpPr>
          <p:cNvPr id="202" name="Google Shape;202;p4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203" name="Google Shape;20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465" y="2247900"/>
            <a:ext cx="7213038" cy="2472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b="1" i="1" lang="ru-RU"/>
              <a:t>Виды ощущений по Ч. Шеррингтону</a:t>
            </a:r>
            <a:endParaRPr/>
          </a:p>
        </p:txBody>
      </p:sp>
      <p:sp>
        <p:nvSpPr>
          <p:cNvPr id="209" name="Google Shape;209;p4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210" name="Google Shape;2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24" y="1732710"/>
            <a:ext cx="67056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6" name="Google Shape;216;p4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ru-RU" sz="4000"/>
              <a:t>ВИДЫ ОЩУЩЕНИЙ</a:t>
            </a:r>
            <a:endParaRPr b="1"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Кинестетическая и вестибулярная чувствительность</a:t>
            </a:r>
            <a:endParaRPr/>
          </a:p>
        </p:txBody>
      </p:sp>
      <p:sp>
        <p:nvSpPr>
          <p:cNvPr id="222" name="Google Shape;222;p4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Кинестетические ощущения — это совокупность сенсорной информации, поступающей из мышц, сухожилий и связок. 	Вестибулярные ощущения основаны на информации, приходящей из полукружных канальцев внутреннего уха. Одна из основных функций системы вестибулярных ощущений — обеспечить устойчивую основу для зрительного наблюдения.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Кожная и болевая чувствительность</a:t>
            </a:r>
            <a:endParaRPr/>
          </a:p>
        </p:txBody>
      </p:sp>
      <p:sp>
        <p:nvSpPr>
          <p:cNvPr id="228" name="Google Shape;228;p4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 Обеспечивает индивида информацией о том, что соприкасается с его телом: это может быть предмет или некоторая среда (водная, воздушная, например). Те части тела, которыми мы чаще всего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непосредственно соприкасаемся с миром, обладают наибольшей чувствительностью: ладони, кончики пальцев, губы и язык.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8"/>
          <p:cNvSpPr txBox="1"/>
          <p:nvPr>
            <p:ph type="title"/>
          </p:nvPr>
        </p:nvSpPr>
        <p:spPr>
          <a:xfrm>
            <a:off x="309282" y="274638"/>
            <a:ext cx="83775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Разновидности кожной чувствительности</a:t>
            </a:r>
            <a:endParaRPr/>
          </a:p>
        </p:txBody>
      </p:sp>
      <p:sp>
        <p:nvSpPr>
          <p:cNvPr id="234" name="Google Shape;234;p4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ощущения давления,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ощущения тепла,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ощущения холода,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ощущения боли.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4000">
                <a:solidFill>
                  <a:schemeClr val="accent1"/>
                </a:solidFill>
              </a:rPr>
              <a:t>! </a:t>
            </a:r>
            <a:r>
              <a:rPr lang="ru-RU"/>
              <a:t>Есть предположение, что для различных типов кожных ощущений существуют свои специализированные рецепторы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Болевая чувствительность</a:t>
            </a:r>
            <a:endParaRPr/>
          </a:p>
        </p:txBody>
      </p:sp>
      <p:sp>
        <p:nvSpPr>
          <p:cNvPr id="240" name="Google Shape;240;p4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имеет крайне важное биологическое значение: болевые ощущения сигнализируют о возможной физической опасности: увечья, ранения.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Предположим что мы потеряли болевую чувствительность.  К чему это может привести?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Вкусовые ощущения</a:t>
            </a:r>
            <a:endParaRPr/>
          </a:p>
        </p:txBody>
      </p:sp>
      <p:sp>
        <p:nvSpPr>
          <p:cNvPr id="246" name="Google Shape;246;p5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Основной функцией вкусовой чувствительности является обеспечение индивида информацией о том, можно ли употребить вовнутрь данное вещество. 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Основные вкусовые качества — это кислтость, соленость, сладость и горечь.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247" name="Google Shape;24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0907" y="4100652"/>
            <a:ext cx="3166782" cy="197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Обоняние </a:t>
            </a:r>
            <a:br>
              <a:rPr lang="ru-RU"/>
            </a:br>
            <a:r>
              <a:rPr lang="ru-RU"/>
              <a:t>(чувствительность к запахам)</a:t>
            </a:r>
            <a:endParaRPr/>
          </a:p>
        </p:txBody>
      </p:sp>
      <p:sp>
        <p:nvSpPr>
          <p:cNvPr id="253" name="Google Shape;253;p5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Обоняние обеспечивает индивида информацией о химических взвесях в воздухе.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800"/>
              <a:t>	Чем ниже на эволюционной лестнице находится существо, тем большая часть мозга занята обработкой обонятельных ощущений.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800"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Слух (слуховая чувствительность)</a:t>
            </a:r>
            <a:endParaRPr/>
          </a:p>
        </p:txBody>
      </p:sp>
      <p:sp>
        <p:nvSpPr>
          <p:cNvPr id="259" name="Google Shape;259;p5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С помощью слуха индивид получает информацию о поведении удаленных от него объектов посредством волновых колебаний среды. Основными характеристиками звуковых волн являются амплитуда и частота.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Громкость и высота, таким образом, основные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сенсорные характеристики звука. Здоровый и достаточно молодой человек слышит звуки в диапазоне примерно от 20 до 20 000 Гц.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Зрительные ощущения</a:t>
            </a:r>
            <a:endParaRPr/>
          </a:p>
        </p:txBody>
      </p:sp>
      <p:sp>
        <p:nvSpPr>
          <p:cNvPr id="265" name="Google Shape;265;p5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Зрение является основным источником информации для человека. </a:t>
            </a:r>
            <a:r>
              <a:rPr lang="ru-RU" sz="2800"/>
              <a:t>Через зрение мы получаем от 70 до 90% информации об окружающем мире</a:t>
            </a:r>
            <a:r>
              <a:rPr lang="ru-RU"/>
              <a:t>.</a:t>
            </a:r>
            <a:endParaRPr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type="title"/>
          </p:nvPr>
        </p:nvSpPr>
        <p:spPr>
          <a:xfrm>
            <a:off x="914400" y="274638"/>
            <a:ext cx="7745506" cy="61286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За 1 секунду обрабатывается</a:t>
            </a:r>
            <a:endParaRPr/>
          </a:p>
        </p:txBody>
      </p:sp>
      <p:sp>
        <p:nvSpPr>
          <p:cNvPr id="271" name="Google Shape;271;p5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272" name="Google Shape;27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811" y="944515"/>
            <a:ext cx="7158318" cy="536873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4"/>
          <p:cNvSpPr/>
          <p:nvPr/>
        </p:nvSpPr>
        <p:spPr>
          <a:xfrm>
            <a:off x="5862918" y="6266049"/>
            <a:ext cx="2003611" cy="44403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Мы осознаем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54"/>
          <p:cNvCxnSpPr/>
          <p:nvPr/>
        </p:nvCxnSpPr>
        <p:spPr>
          <a:xfrm flipH="1" rot="10800000">
            <a:off x="7490012" y="6071207"/>
            <a:ext cx="376517" cy="194843"/>
          </a:xfrm>
          <a:prstGeom prst="straightConnector1">
            <a:avLst/>
          </a:prstGeom>
          <a:noFill/>
          <a:ln cap="flat" cmpd="sng" w="9525">
            <a:solidFill>
              <a:srgbClr val="D2431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5" name="Google Shape;275;p54"/>
          <p:cNvSpPr txBox="1"/>
          <p:nvPr/>
        </p:nvSpPr>
        <p:spPr>
          <a:xfrm>
            <a:off x="4787153" y="1949824"/>
            <a:ext cx="7649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зрение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4"/>
          <p:cNvSpPr txBox="1"/>
          <p:nvPr/>
        </p:nvSpPr>
        <p:spPr>
          <a:xfrm>
            <a:off x="6249446" y="5472953"/>
            <a:ext cx="1596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Слух и обоняние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4"/>
          <p:cNvSpPr txBox="1"/>
          <p:nvPr/>
        </p:nvSpPr>
        <p:spPr>
          <a:xfrm>
            <a:off x="4787153" y="4397188"/>
            <a:ext cx="9525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осязание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4"/>
          <p:cNvSpPr txBox="1"/>
          <p:nvPr/>
        </p:nvSpPr>
        <p:spPr>
          <a:xfrm>
            <a:off x="8095129" y="5250032"/>
            <a:ext cx="8673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Органы вкуса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54"/>
          <p:cNvCxnSpPr/>
          <p:nvPr/>
        </p:nvCxnSpPr>
        <p:spPr>
          <a:xfrm flipH="1">
            <a:off x="7678270" y="5626841"/>
            <a:ext cx="416859" cy="444366"/>
          </a:xfrm>
          <a:prstGeom prst="straightConnector1">
            <a:avLst/>
          </a:prstGeom>
          <a:noFill/>
          <a:ln cap="flat" cmpd="sng" w="9525">
            <a:solidFill>
              <a:srgbClr val="D2431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78a41babf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85" name="Google Shape;285;g2378a41babf_0_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286" name="Google Shape;286;g2378a41bab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048" y="1693171"/>
            <a:ext cx="4666592" cy="4071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>
                <a:solidFill>
                  <a:schemeClr val="dk1"/>
                </a:solidFill>
              </a:rPr>
              <a:t>ВОСПРИЯТИЕ - это</a:t>
            </a:r>
            <a:endParaRPr/>
          </a:p>
        </p:txBody>
      </p:sp>
      <p:sp>
        <p:nvSpPr>
          <p:cNvPr id="292" name="Google Shape;292;p5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 sz="2800"/>
              <a:t>это психический познавательный процесс отражения в сознании человека непосредственно воздействующих на его органы чувств предметов и явления в целом, а не отдельных их свойств, как это происходит при ощущении.</a:t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8" name="Google Shape;298;p5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07988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В  восприятии  участвуют  высшие  когнитивные  механизмы,  интерпретирующие  сенсорную  информацию.</a:t>
            </a:r>
            <a:endParaRPr/>
          </a:p>
          <a:p>
            <a:pPr indent="407988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Ощущение  связано  с  начальным  обнаружением  стимулов;  восприятие  —  с интерпретацией ощущаемых явлений. </a:t>
            </a:r>
            <a:endParaRPr/>
          </a:p>
          <a:p>
            <a:pPr indent="407988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Каждое из этих сенсорных событий обрабатывается в контексте наших знаний о мире; наш предшествующий опыт придает смысл простым ощущениям.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4" name="Google Shape;304;p5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Выделение двух стадий обработки информации — сенсорных и перцептивых процессов (ощущений и восприятия) — во многом является абстракцией. Трудно отделить их друг от друга.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Наш опыт позволяет нам формировать ожидания, касающиеся явлений внешнего мира: ощущения от движущегося источника звука и света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дают нам возможность предвосхищать появление автомобиля, раскатистые звуки в небесах — грозу и ливень.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Почему разум искажает действительность?</a:t>
            </a:r>
            <a:endParaRPr/>
          </a:p>
        </p:txBody>
      </p:sp>
      <p:sp>
        <p:nvSpPr>
          <p:cNvPr id="310" name="Google Shape;310;p5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lang="ru-RU"/>
              <a:t>Взаимосвязь  между  восприятием  и  предшествующим  знанием  о  мире.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b="1" lang="ru-RU"/>
              <a:t>По рзеузльаттам илссоевадний одонго анлигсйокго унвиертисета, не иеемт занчнеия, в каокм проякде рсапжоолены бкувы в солве. Галовне, чотбы преавя и пслонедяя бквуы блыи на мсете. осатьлыне бкувы мгоут селдовтаь в плоонм бсепордяке, все-рвано ткест чтаитсея без побрелм. Пичрионй эгото ялвятеся то, что мы не чиаетм кдаужю бкуву по отдльенотси, а все солво цлиеком.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Раскопки</a:t>
            </a:r>
            <a:endParaRPr/>
          </a:p>
        </p:txBody>
      </p:sp>
      <p:sp>
        <p:nvSpPr>
          <p:cNvPr id="316" name="Google Shape;316;p5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317" name="Google Shape;31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5940" y="1268787"/>
            <a:ext cx="2803151" cy="1987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9870" y="3417461"/>
            <a:ext cx="6880412" cy="266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Восприятие глубины и удаленности предметов</a:t>
            </a:r>
            <a:endParaRPr/>
          </a:p>
        </p:txBody>
      </p:sp>
      <p:sp>
        <p:nvSpPr>
          <p:cNvPr id="324" name="Google Shape;324;p6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Одной из фундаментальных проблем восприятия, а именно с проблемой локализации — определения местоположения объектов.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Один из основных вопросов восприятия глубины и удаленности предметов состоит в том, почему и за счет чего мы видим мир трехмерным, если на сетчатке глаза мы имеем только двухмерное (плоское) его изображение?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Стремление ответить на поставленный вопрос привело к поиску признаков глубины и удаленности — особенностей стимульной ситуации, которые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позволяют наблюдателю определить, насколько далеко объект находится от него самого и от других объектов.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30" name="Google Shape;330;p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331" name="Google Shape;3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8922" y="284920"/>
            <a:ext cx="6036366" cy="603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86" y="535628"/>
            <a:ext cx="7984587" cy="5096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961" y="206860"/>
            <a:ext cx="8152570" cy="6114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4894" y="206858"/>
            <a:ext cx="6568969" cy="608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40" name="Google Shape;340;p6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Бинокулярные и монокулярные признаки удаленности и глубины.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Монокулярные признаки: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линейная перспектива,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суперпозиция,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относительный размер предметов ,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градиент текстуры.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Бинокулярные признаки удаленности и глубины</a:t>
            </a:r>
            <a:endParaRPr/>
          </a:p>
        </p:txBody>
      </p:sp>
      <p:sp>
        <p:nvSpPr>
          <p:cNvPr id="346" name="Google Shape;346;p6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Бинокулярными признаками называют признаки, связанные с соотношением изображений или проекций объекта на сетчатки разных глаз.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сегрегация</a:t>
            </a:r>
            <a:endParaRPr/>
          </a:p>
        </p:txBody>
      </p:sp>
      <p:sp>
        <p:nvSpPr>
          <p:cNvPr id="352" name="Google Shape;352;p6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Перцептивная сегрегация представляет собой разбиение некоторой группы объектов на отдельные объекты, или выделение в группе объектов отдельных ее составляющих.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Начальной стадией перцептивной сегрегации является выделение фигуры из фона.</a:t>
            </a:r>
            <a:endParaRPr/>
          </a:p>
        </p:txBody>
      </p:sp>
      <p:pic>
        <p:nvPicPr>
          <p:cNvPr id="353" name="Google Shape;35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1823" y="3653958"/>
            <a:ext cx="2298327" cy="2953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59" name="Google Shape;359;p6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5"/>
              <a:buNone/>
            </a:pPr>
            <a:r>
              <a:rPr lang="ru-RU"/>
              <a:t>	Особенности зрительной стимуляции, которые помогают перцептивной системе отличить фигуру от фона: 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5"/>
              <a:buNone/>
            </a:pPr>
            <a:r>
              <a:rPr lang="ru-RU"/>
              <a:t>1) фон обычно (хотя и не всегда) включает в себя фигуру, 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5"/>
              <a:buNone/>
            </a:pPr>
            <a:r>
              <a:rPr lang="ru-RU"/>
              <a:t>2) он содержит меньше деталей и отличительных особенностей по сравнению с фигурой,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5"/>
              <a:buNone/>
            </a:pPr>
            <a:r>
              <a:rPr lang="ru-RU"/>
              <a:t>3) восприятие объекта как фигуры связано с относительно более детальным анализом информации по сравнению с восприятием объекта как фона. Проще говоря, фигура — это то, на что мы в данный момент обращаем преимущественное внимание,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4) влияние самого субъекта восприятия.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группировка</a:t>
            </a:r>
            <a:endParaRPr/>
          </a:p>
        </p:txBody>
      </p:sp>
      <p:sp>
        <p:nvSpPr>
          <p:cNvPr id="365" name="Google Shape;365;p65"/>
          <p:cNvSpPr txBox="1"/>
          <p:nvPr>
            <p:ph idx="1" type="body"/>
          </p:nvPr>
        </p:nvSpPr>
        <p:spPr>
          <a:xfrm>
            <a:off x="470647" y="1447800"/>
            <a:ext cx="821615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образы восприятия характеризуются целостностью.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000"/>
              <a:t>Принципы  перцептивной группировки: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/>
          </a:p>
        </p:txBody>
      </p:sp>
      <p:pic>
        <p:nvPicPr>
          <p:cNvPr id="366" name="Google Shape;3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8017" y="2390195"/>
            <a:ext cx="2847690" cy="4027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группировка</a:t>
            </a:r>
            <a:endParaRPr/>
          </a:p>
        </p:txBody>
      </p:sp>
      <p:sp>
        <p:nvSpPr>
          <p:cNvPr id="372" name="Google Shape;372;p66"/>
          <p:cNvSpPr txBox="1"/>
          <p:nvPr>
            <p:ph idx="1" type="body"/>
          </p:nvPr>
        </p:nvSpPr>
        <p:spPr>
          <a:xfrm>
            <a:off x="470647" y="1447800"/>
            <a:ext cx="821615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образы восприятия характеризуются целостностью.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000"/>
              <a:t>Принципы  перцептивной группировки: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близость,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2000"/>
          </a:p>
        </p:txBody>
      </p:sp>
      <p:pic>
        <p:nvPicPr>
          <p:cNvPr id="373" name="Google Shape;37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900" y="2783262"/>
            <a:ext cx="3545601" cy="182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60" y="3238155"/>
            <a:ext cx="4316453" cy="312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группировка</a:t>
            </a:r>
            <a:endParaRPr/>
          </a:p>
        </p:txBody>
      </p:sp>
      <p:sp>
        <p:nvSpPr>
          <p:cNvPr id="380" name="Google Shape;380;p67"/>
          <p:cNvSpPr txBox="1"/>
          <p:nvPr>
            <p:ph idx="1" type="body"/>
          </p:nvPr>
        </p:nvSpPr>
        <p:spPr>
          <a:xfrm>
            <a:off x="470647" y="1447800"/>
            <a:ext cx="821615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образы восприятия характеризуются целостностью.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000"/>
              <a:t>Принципы  перцептивной группировки: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близость,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сходство,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2000"/>
          </a:p>
        </p:txBody>
      </p:sp>
      <p:pic>
        <p:nvPicPr>
          <p:cNvPr id="381" name="Google Shape;38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797" y="3109913"/>
            <a:ext cx="3439352" cy="1986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6" y="3652436"/>
            <a:ext cx="47434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8" name="Google Shape;388;p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descr="Стенд &quot;Дорожные знаки&quot; купить недорого с доставкой по России" id="389" name="Google Shape;38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896" y="702227"/>
            <a:ext cx="7620000" cy="50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группировка</a:t>
            </a:r>
            <a:endParaRPr/>
          </a:p>
        </p:txBody>
      </p:sp>
      <p:sp>
        <p:nvSpPr>
          <p:cNvPr id="396" name="Google Shape;396;p68"/>
          <p:cNvSpPr txBox="1"/>
          <p:nvPr>
            <p:ph idx="1" type="body"/>
          </p:nvPr>
        </p:nvSpPr>
        <p:spPr>
          <a:xfrm>
            <a:off x="470647" y="1447800"/>
            <a:ext cx="821615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образы восприятия характеризуются целостностью.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000"/>
              <a:t>Принципы  перцептивной группировки: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близость,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сходство,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хорошего продолжения,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2000"/>
          </a:p>
        </p:txBody>
      </p:sp>
      <p:pic>
        <p:nvPicPr>
          <p:cNvPr id="397" name="Google Shape;39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5412" y="2935490"/>
            <a:ext cx="2515721" cy="2791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амые извилистые горные дороги мира." id="398" name="Google Shape;398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218" y="3852629"/>
            <a:ext cx="3693402" cy="2457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группировка</a:t>
            </a:r>
            <a:endParaRPr/>
          </a:p>
        </p:txBody>
      </p:sp>
      <p:sp>
        <p:nvSpPr>
          <p:cNvPr id="404" name="Google Shape;404;p69"/>
          <p:cNvSpPr txBox="1"/>
          <p:nvPr>
            <p:ph idx="1" type="body"/>
          </p:nvPr>
        </p:nvSpPr>
        <p:spPr>
          <a:xfrm>
            <a:off x="470647" y="1447800"/>
            <a:ext cx="821615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образы восприятия характеризуются целостностью.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000"/>
              <a:t>Принципы  перцептивной группировки: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близость,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сходство,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хорошего продолжения,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замкнктость,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2000"/>
          </a:p>
        </p:txBody>
      </p:sp>
      <p:pic>
        <p:nvPicPr>
          <p:cNvPr id="405" name="Google Shape;40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1063" y="2907086"/>
            <a:ext cx="3269596" cy="264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Перцептивная группировка</a:t>
            </a:r>
            <a:endParaRPr/>
          </a:p>
        </p:txBody>
      </p:sp>
      <p:sp>
        <p:nvSpPr>
          <p:cNvPr id="411" name="Google Shape;411;p70"/>
          <p:cNvSpPr txBox="1"/>
          <p:nvPr>
            <p:ph idx="1" type="body"/>
          </p:nvPr>
        </p:nvSpPr>
        <p:spPr>
          <a:xfrm>
            <a:off x="470647" y="1447800"/>
            <a:ext cx="821615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образы восприятия характеризуются целостностью.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2000"/>
              <a:t>Принципы  перцептивной группировки: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близость,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сходство,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хорошего продолжения,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замкнутость,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Char char="-"/>
            </a:pPr>
            <a:r>
              <a:rPr lang="ru-RU" sz="2000"/>
              <a:t>эффект субъективного контура.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Libre Baskerville"/>
              <a:buNone/>
            </a:pPr>
            <a:r>
              <a:t/>
            </a:r>
            <a:endParaRPr sz="2000"/>
          </a:p>
        </p:txBody>
      </p:sp>
      <p:pic>
        <p:nvPicPr>
          <p:cNvPr id="412" name="Google Shape;41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1416" y="3141328"/>
            <a:ext cx="2884395" cy="2575353"/>
          </a:xfrm>
          <a:prstGeom prst="rect">
            <a:avLst/>
          </a:prstGeom>
          <a:noFill/>
          <a:ln>
            <a:noFill/>
          </a:ln>
        </p:spPr>
      </p:pic>
      <p:sp>
        <p:nvSpPr>
          <p:cNvPr descr="ВОСПРИЯТИЕ" id="413" name="Google Shape;413;p7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ВОСПРИЯТИЕ" id="414" name="Google Shape;414;p70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ВОСПРИЯТИЕ" id="415" name="Google Shape;415;p70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6306" y="1593194"/>
            <a:ext cx="5731357" cy="4649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Распознавание образов</a:t>
            </a:r>
            <a:endParaRPr/>
          </a:p>
        </p:txBody>
      </p:sp>
      <p:sp>
        <p:nvSpPr>
          <p:cNvPr id="422" name="Google Shape;422;p7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314325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Для того чтобы понять, что за объект находится в поле внимания, индивид должен не просто отделить его от фона, объединить элементы в некоторый целостный образ, но и отнести этот образ к некоторой категории, типу объектов, ранее воспринимаемых им. </a:t>
            </a:r>
            <a:endParaRPr/>
          </a:p>
          <a:p>
            <a:pPr indent="314325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Процесс отнесения образов восприятия к некоторой категории называется процессом опознания, или распознаванием образов.</a:t>
            </a:r>
            <a:endParaRPr/>
          </a:p>
          <a:p>
            <a:pPr indent="314325" lvl="0" marL="13017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Человек обладает способностью довольно легко распознавать даже сильно измененные образы.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28" name="Google Shape;428;p7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Но, как и в случае других процессов восприятия, распознавание образов нельзя объяснить только особенностями стимульной ситуации. Значение имеет и «влияние сверху»: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эффекты опыта,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установок,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личностных особенностей воспринимающего,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т. п.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Свойства восприятия</a:t>
            </a:r>
            <a:endParaRPr/>
          </a:p>
        </p:txBody>
      </p:sp>
      <p:sp>
        <p:nvSpPr>
          <p:cNvPr id="434" name="Google Shape;434;p5"/>
          <p:cNvSpPr txBox="1"/>
          <p:nvPr>
            <p:ph idx="1" type="body"/>
          </p:nvPr>
        </p:nvSpPr>
        <p:spPr>
          <a:xfrm>
            <a:off x="437322" y="1447800"/>
            <a:ext cx="8249478" cy="4966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ru-RU" sz="2800"/>
              <a:t>1. Целостность</a:t>
            </a:r>
            <a:br>
              <a:rPr lang="ru-RU" sz="2800"/>
            </a:br>
            <a:r>
              <a:rPr lang="ru-RU" sz="2800"/>
              <a:t>Возникновение образа предмета происходит на основе взаимосвязи целого комплекса ощущений. Если какое-то из них не участвует в процесс восприятия, то происходит мысленная реконструкция поступившей информации до полного образа. Например, человек с заложенным носом все равно отличит розу от других цветов, хотя и не сможет непосредственно ощутить ее аромата.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ru-RU" sz="2000"/>
              <a:t>Целостность восприятия- отражение предмета в качестве устойчивой системной целостности.</a:t>
            </a:r>
            <a:br>
              <a:rPr lang="ru-RU" sz="2000"/>
            </a:br>
            <a:r>
              <a:rPr lang="ru-RU" sz="2000"/>
              <a:t>Тенденция сознания к целостности объекта настолько велика, что мы даже «видим» грань прямоугольника.</a:t>
            </a:r>
            <a:endParaRPr/>
          </a:p>
        </p:txBody>
      </p:sp>
      <p:pic>
        <p:nvPicPr>
          <p:cNvPr descr="cXhONmz8eRg.jpg" id="440" name="Google Shape;44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736" y="2204864"/>
            <a:ext cx="5119712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Свойства восприятия</a:t>
            </a:r>
            <a:endParaRPr/>
          </a:p>
        </p:txBody>
      </p:sp>
      <p:sp>
        <p:nvSpPr>
          <p:cNvPr id="446" name="Google Shape;446;p7"/>
          <p:cNvSpPr txBox="1"/>
          <p:nvPr>
            <p:ph idx="1" type="body"/>
          </p:nvPr>
        </p:nvSpPr>
        <p:spPr>
          <a:xfrm>
            <a:off x="437322" y="1447800"/>
            <a:ext cx="8249478" cy="4966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8061"/>
              <a:buNone/>
            </a:pPr>
            <a:r>
              <a:rPr b="1" lang="ru-RU" sz="2800"/>
              <a:t>1. Целостность</a:t>
            </a:r>
            <a:br>
              <a:rPr lang="ru-RU" sz="2800"/>
            </a:br>
            <a:r>
              <a:rPr lang="ru-RU" sz="2800"/>
              <a:t>Возникновение образа предмета происходит на основе взаимосвязи целого комплекса ощущений. Если какое-то из них не участвует в процесс восприятия, то происходит мысленная реконструкция поступившей информации до полного образа. Например, человек с заложенным носом все равно отличит розу от других цветов, хотя и не сможет непосредственно ощутить ее аромата.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8061"/>
              <a:buNone/>
            </a:pPr>
            <a:r>
              <a:rPr b="1" lang="ru-RU" sz="2800"/>
              <a:t>2. Структурность</a:t>
            </a:r>
            <a:br>
              <a:rPr lang="ru-RU" sz="2800"/>
            </a:br>
            <a:r>
              <a:rPr lang="ru-RU" sz="2800"/>
              <a:t>Всякий образ в нашем сознании относится к какой-то категории предметов с определенным наименованием. С обогащением опыта индивида растет и количество предметов, относящихся к известным ему категориям. Это позволяет узнавать предметы даже в случае, когда какие-либо их характеристики не воспринимаются органами чувств.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8061"/>
              <a:buNone/>
            </a:pPr>
            <a:r>
              <a:rPr b="1" lang="ru-RU" sz="2800"/>
              <a:t>3. Предметность</a:t>
            </a:r>
            <a:br>
              <a:rPr lang="ru-RU" sz="2800"/>
            </a:br>
            <a:r>
              <a:rPr lang="ru-RU" sz="2800"/>
              <a:t>При адекватном восприятии образ воспроизводится в нашем сознании, независимо от нашего к нему отношения. Нельзя, к примеру, оценить блюдо, полагаясь только на чувство голода.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Свойства восприятия</a:t>
            </a:r>
            <a:endParaRPr/>
          </a:p>
        </p:txBody>
      </p:sp>
      <p:sp>
        <p:nvSpPr>
          <p:cNvPr id="452" name="Google Shape;452;p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ru-RU" sz="2800"/>
              <a:t>4. Константность</a:t>
            </a:r>
            <a:br>
              <a:rPr lang="ru-RU" sz="2800"/>
            </a:br>
            <a:r>
              <a:rPr lang="ru-RU" sz="2800"/>
              <a:t>Характеристики предметов – их цвет, размер, форма – при полноценном восприятии не меняются. Уголь, даже при свете дня, мы воспринимаем как черный, а мел, даже во мраке ночи, нам представляется белым.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Константность восприятия</a:t>
            </a:r>
            <a:endParaRPr/>
          </a:p>
        </p:txBody>
      </p:sp>
      <p:sp>
        <p:nvSpPr>
          <p:cNvPr id="458" name="Google Shape;458;p74"/>
          <p:cNvSpPr txBox="1"/>
          <p:nvPr>
            <p:ph idx="1" type="body"/>
          </p:nvPr>
        </p:nvSpPr>
        <p:spPr>
          <a:xfrm>
            <a:off x="376518" y="1447800"/>
            <a:ext cx="831028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несмотря не непрерывную изменчивость обличая окружающих нас объектов, мы воспринимаем их как относительно постоянные по форме, размеру, цвету и т. д. Эта особенность нашей  воспринимающей системы называется константностью восприятия.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Если константность и приобретается в ходе жизни, то весьма быстро. В ходе эксперимента было выявлено, что  константность величины наблюдается у детей не позже, чем на шестом месяце жизни, константность формы— на третьем месяце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Свойства восприятия</a:t>
            </a:r>
            <a:endParaRPr/>
          </a:p>
        </p:txBody>
      </p:sp>
      <p:sp>
        <p:nvSpPr>
          <p:cNvPr id="464" name="Google Shape;464;p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59073"/>
              <a:buNone/>
            </a:pPr>
            <a:r>
              <a:rPr b="1" lang="ru-RU" sz="2800"/>
              <a:t>4. Константность</a:t>
            </a:r>
            <a:br>
              <a:rPr lang="ru-RU" sz="2800"/>
            </a:br>
            <a:r>
              <a:rPr lang="ru-RU" sz="2800"/>
              <a:t>Характеристики предметов – их цвет, размер, форма – при полноценном восприятии не меняются. Уголь, даже при свете дня, мы воспринимаем как черный, а мел, даже во мраке ночи, нам представляется белым.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59073"/>
              <a:buNone/>
            </a:pPr>
            <a:br>
              <a:rPr lang="ru-RU" sz="2800"/>
            </a:br>
            <a:r>
              <a:rPr b="1" lang="ru-RU" sz="2800"/>
              <a:t>5. Осмысленность</a:t>
            </a:r>
            <a:br>
              <a:rPr lang="ru-RU" sz="2800"/>
            </a:br>
            <a:r>
              <a:rPr lang="ru-RU" sz="2800"/>
              <a:t>Процесс осмысления образов – неотъемлемая часть восприятия. Наш мозг постоянно соотносит получаемую информацию с уже имеющейся и связывает каждый образ с его категорией и словесным выражением.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 sz="2000"/>
              <a:t>А этот плоский объект может стать объемным.</a:t>
            </a:r>
            <a:br>
              <a:rPr lang="ru-RU" sz="2000"/>
            </a:br>
            <a:r>
              <a:rPr lang="ru-RU" sz="2000"/>
              <a:t>Как только вы узнаете что перед вами изображена пирамида.</a:t>
            </a:r>
            <a:endParaRPr/>
          </a:p>
        </p:txBody>
      </p:sp>
      <p:pic>
        <p:nvPicPr>
          <p:cNvPr descr="gMLqGNHU33c.jpg" id="470" name="Google Shape;47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44" y="1988840"/>
            <a:ext cx="4032448" cy="388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"/>
          <p:cNvSpPr txBox="1"/>
          <p:nvPr>
            <p:ph type="title"/>
          </p:nvPr>
        </p:nvSpPr>
        <p:spPr>
          <a:xfrm>
            <a:off x="1143000" y="565652"/>
            <a:ext cx="6858000" cy="156720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ru-RU" sz="2000"/>
              <a:t>Только определив категорию воспринимаемого объекта, мы распознаем его признаки.</a:t>
            </a:r>
            <a:br>
              <a:rPr lang="ru-RU" sz="2000"/>
            </a:br>
            <a:r>
              <a:rPr lang="ru-RU" sz="2000"/>
              <a:t>Что вы видите на этой картинке?</a:t>
            </a:r>
            <a:br>
              <a:rPr lang="ru-RU" sz="2000"/>
            </a:br>
            <a:br>
              <a:rPr lang="ru-RU" sz="2000"/>
            </a:br>
            <a:endParaRPr sz="2000"/>
          </a:p>
        </p:txBody>
      </p:sp>
      <p:pic>
        <p:nvPicPr>
          <p:cNvPr descr="0XIjcqAJQNE.jpg" id="476" name="Google Shape;47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84" y="2420888"/>
            <a:ext cx="3528392" cy="36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1"/>
          <p:cNvSpPr txBox="1"/>
          <p:nvPr/>
        </p:nvSpPr>
        <p:spPr>
          <a:xfrm>
            <a:off x="1347324" y="6114914"/>
            <a:ext cx="6793264" cy="520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Признаки собаки мы детально обнаруживаем, только узнав, что здесь изображена собака.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Свойства восприятия</a:t>
            </a:r>
            <a:endParaRPr/>
          </a:p>
        </p:txBody>
      </p:sp>
      <p:sp>
        <p:nvSpPr>
          <p:cNvPr id="483" name="Google Shape;483;p1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4285"/>
              <a:buNone/>
            </a:pPr>
            <a:r>
              <a:rPr b="1" lang="ru-RU" sz="2800"/>
              <a:t>6. Условность</a:t>
            </a:r>
            <a:br>
              <a:rPr lang="ru-RU" sz="2800"/>
            </a:br>
            <a:r>
              <a:rPr lang="ru-RU" sz="2800"/>
              <a:t>Информация, которую дают глаза, уши, нос, кожа, воспринимается субъектом через призму его опыта. В оценке образа участвуют взгляды человека, его интересы, мотивы. Так как все эти характеристики индивидуальны, то людям свойственно по-разному воспринимать одни и те же явления реальности.</a:t>
            </a:r>
            <a:br>
              <a:rPr lang="ru-RU" sz="2800"/>
            </a:br>
            <a:endParaRPr sz="2800"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4285"/>
              <a:buNone/>
            </a:pPr>
            <a:r>
              <a:rPr b="1" lang="ru-RU" sz="2800"/>
              <a:t>7. Избирательность</a:t>
            </a:r>
            <a:br>
              <a:rPr lang="ru-RU" sz="2800"/>
            </a:br>
            <a:r>
              <a:rPr lang="ru-RU" sz="2800"/>
              <a:t>Мы можем воспринимать не все окружающие нас предметы, а один из них либо какую-то их группу. Остальные предметы в этот момент будут выполнять роль фона восприятия, не фиксируясь в нашем сознании.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89" name="Google Shape;489;p7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490" name="Google Shape;49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4225" y="1911627"/>
            <a:ext cx="2918012" cy="3506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96" name="Google Shape;496;p7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Если две меры реальности, «объективная» и воспринимаемая, не совпадают, наблюдаются иллюзии  восприятия.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descr="Иллюзии восприятия" id="497" name="Google Shape;497;p7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1708" y="2774743"/>
            <a:ext cx="2728291" cy="341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653" y="3030330"/>
            <a:ext cx="3480429" cy="2899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506" name="Google Shape;5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4817" y="1361521"/>
            <a:ext cx="4678017" cy="534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0500" y="1267928"/>
            <a:ext cx="6985576" cy="530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514" name="Google Shape;5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745" y="494675"/>
            <a:ext cx="8222163" cy="5932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20" name="Google Shape;520;p1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521" name="Google Shape;5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9414" y="621449"/>
            <a:ext cx="4953552" cy="561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Это интересно</a:t>
            </a:r>
            <a:endParaRPr/>
          </a:p>
        </p:txBody>
      </p:sp>
      <p:sp>
        <p:nvSpPr>
          <p:cNvPr id="527" name="Google Shape;527;p7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Цвет, который лучше всего воспринимается мозгом, – желто-зеленый.  Наши  глаза  имеют  рецепторы  для  восприятия  синего, зеленого и красного. Но мозг не получает информации о цветах, он получает информацию о разнице светлого и темного, а также информацию о разнице между цветами.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Цвет формы спортсменов влияет на решения судей. Футбольная  команда,  одетая  в  красную  форму,  имеет  повышенные  шансы на победу при игре на своем поле.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	Цвет текста может влиять на принятие решений. Утверждения зеленого цвета вызывают согласие.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Объем восприятия</a:t>
            </a:r>
            <a:endParaRPr/>
          </a:p>
        </p:txBody>
      </p:sp>
      <p:sp>
        <p:nvSpPr>
          <p:cNvPr id="533" name="Google Shape;533;p7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lang="ru-RU"/>
              <a:t>7±2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Распознавание паттернов</a:t>
            </a:r>
            <a:endParaRPr/>
          </a:p>
        </p:txBody>
      </p:sp>
      <p:sp>
        <p:nvSpPr>
          <p:cNvPr id="539" name="Google Shape;539;p7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Удивительным свойством восприятия является его способность опознавать  знакомые  паттерны  сенсорной  информации. 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	Паттерн – это сложное сочетание сенсорных стимулов, опознаваемое человеком как часть некоторого класса объектов.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3400"/>
              <a:t>Компоненты способности распознавать паттерны (Р. Солсо):</a:t>
            </a:r>
            <a:endParaRPr sz="3400"/>
          </a:p>
        </p:txBody>
      </p:sp>
      <p:sp>
        <p:nvSpPr>
          <p:cNvPr id="545" name="Google Shape;545;p7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lang="ru-RU"/>
              <a:t>способность распознавать знакомые паттерны быстро и с высокой степенью точности;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lang="ru-RU"/>
              <a:t>способность оперировать незнакомыми объектами;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lang="ru-RU"/>
              <a:t>способность точно воспринимать объекты, которые расположены или вращаются под различными углами;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lang="ru-RU"/>
              <a:t>способность идентифицировать частично скрытые или замаскированные различным «шумом» объекты;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Char char="⚫"/>
            </a:pPr>
            <a:r>
              <a:rPr lang="ru-RU"/>
              <a:t>способность  быстро,  субъективно  легко  и  автоматически распознавать паттерны.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0000"/>
              <a:buNone/>
            </a:pPr>
            <a:r>
              <a:rPr lang="ru-RU"/>
              <a:t>Подходы к распознаванию зрительных паттернов:</a:t>
            </a:r>
            <a:endParaRPr/>
          </a:p>
        </p:txBody>
      </p:sp>
      <p:sp>
        <p:nvSpPr>
          <p:cNvPr id="551" name="Google Shape;551;p8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1) восприятие целого стимульного образа (перцептивная группировка),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2) принцип  обработки  информации «сверху  вниз»  и «снизу вверх», 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3) сравнение  с  эталоном,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4) подетальный анализ: распознавание паттернов происходит после анализа элементарных свойств входных стимулов, т. е. прежде  чем произойдет оценка информации зрительного паттерна в полном 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объеме, осуществляется минимальный анализ его составных частей,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rPr lang="ru-RU"/>
              <a:t>5) опознание по прототипу.</a:t>
            </a:r>
            <a:endParaRPr/>
          </a:p>
          <a:p>
            <a:pPr indent="0" lvl="0" marL="13144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6361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"/>
          <p:cNvSpPr txBox="1"/>
          <p:nvPr>
            <p:ph idx="1" type="body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755" lvl="0" marL="45720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b="1" lang="ru-RU"/>
              <a:t> 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Почему </a:t>
            </a:r>
            <a:r>
              <a:rPr lang="ru-RU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красный цвет </a:t>
            </a: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означает «стоп», а </a:t>
            </a:r>
            <a:r>
              <a:rPr lang="ru-RU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зеленый</a:t>
            </a: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 – «идите»? Невеста – в белом, а черный – цвет траура и печали? Счастливый все видит </a:t>
            </a:r>
            <a:r>
              <a:rPr lang="ru-RU" sz="1800">
                <a:solidFill>
                  <a:srgbClr val="EF8B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«в розовом цвете», </a:t>
            </a: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а романтик упивается </a:t>
            </a:r>
            <a:r>
              <a:rPr lang="ru-RU" sz="18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«голубыми мечтами»… </a:t>
            </a: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Это всего лишь дань традиции. 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Цвета могут оказывать физическое (очень мимолетное) и психическое (при долгом взгляде на определенный предмет) воздействие. Это воздействие влияет на эмоциональное отношение к цвету и многое другое.</a:t>
            </a:r>
            <a:endParaRPr/>
          </a:p>
          <a:p>
            <a:pPr indent="-325755" lvl="0" marL="4572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b="1">
              <a:latin typeface="Corsiva"/>
              <a:ea typeface="Corsiva"/>
              <a:cs typeface="Corsiva"/>
              <a:sym typeface="Corsiva"/>
            </a:endParaRPr>
          </a:p>
          <a:p>
            <a:pPr indent="-325755" lvl="0" marL="45720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b="1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62" name="Google Shape;562;p1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0" i="0" lang="ru-RU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Различные цвета воздействуют на человека по-разному и способны вызвать определенные эмоции, что может быть обусловлено как объективными, так и субъективным и причинами.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0" i="0" lang="ru-RU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	Связи между цветом и окружающей средой закрепились у людей на подсознательном уровне. Поэтому человек эмоционально реагирует на цвет вне зависимости от своих мыслей.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8"/>
          <p:cNvSpPr txBox="1"/>
          <p:nvPr>
            <p:ph idx="1" type="body"/>
          </p:nvPr>
        </p:nvSpPr>
        <p:spPr>
          <a:xfrm>
            <a:off x="468313" y="47625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	С одной стороны, восприятие цвета зависит от жизненного опыта и окружающей обстановки.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Font typeface="Arial"/>
              <a:buNone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	С древних времен человечество подметило взаимосвязь между восприятием цвета и характером индивидуума. Цвета — особенно их резкая смена — способны изменить настроение человека в ту или иную сторону. При этом каждому типу характера человека свойственен определенный набор любимых цветов.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>
            <p:ph idx="1" type="body"/>
          </p:nvPr>
        </p:nvSpPr>
        <p:spPr>
          <a:xfrm>
            <a:off x="469338" y="16501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0" i="0" lang="ru-RU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	Большое внимание влиянию цвета на восприятие человека и его психическое состояние уделял швейцарский психолог Макс Люшер. Так, он установил, что желто-красные тона создают чувство взволнованности, возбуждения, активности. Синие, серые цветовые тона, напротив, действуют успокаивающе.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 cap="small"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1800" cap="small"/>
              <a:t>Восьмицветовой тест Люшера</a:t>
            </a:r>
            <a:endParaRPr sz="1800" cap="small"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https://psytests.org/luscher/8color.html</a:t>
            </a:r>
            <a:r>
              <a:rPr b="0" i="0" lang="ru-RU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descr="Макс Люшер (2005)" id="574" name="Google Shape;5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9738" y="3738520"/>
            <a:ext cx="1827775" cy="2687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80" name="Google Shape;580;p3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0" i="0" lang="ru-RU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	Количество используемых цветов непосредственно влияет на эффективность воздействия. Если эффективность восприятия черно-белого изображения принять за 100 %, то эффективность двухцветного возрастает на 20 %, а многоцветного – на 40 %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86" name="Google Shape;586;p8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descr="Схема эмоционального восприятия цветовых оттенков" id="587" name="Google Shape;587;p8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115" y="7937"/>
            <a:ext cx="6337599" cy="6221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" name="Google Shape;593;p84"/>
          <p:cNvGraphicFramePr/>
          <p:nvPr/>
        </p:nvGraphicFramePr>
        <p:xfrm>
          <a:off x="178026" y="620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{6B6FCF5F-738B-410C-819C-FFBADBAFC49C}</a:tableStyleId>
              </a:tblPr>
              <a:tblGrid>
                <a:gridCol w="1788350"/>
                <a:gridCol w="3010225"/>
                <a:gridCol w="3868000"/>
              </a:tblGrid>
              <a:tr h="23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Цвет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Ассоциации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Воздействие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Белый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Чистота, невинность, нейтральность, легкость.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Увеличивает пространство, при использовании на большой площади создает ощущение стерильности.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Черный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Тайна, анонимность, глубина, траур.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Передает глубину, может действовать депрессивно.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Желтый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Приветливость, веселость, энергия.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Способствует решению задач и проблем, стимулирует мозг.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Красный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Энергия, скорость, любовь, агрессия, опасность, огонь, кровь, война.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Улучшает настроение, возбуждает, лидерство.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Синий, голубой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Лед, море, небо, депрессия, верность, мир, спокойствие, устойчивость, чистота, безопасность, истина.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Прохлада, снимает воспаления, уменьшает уровень тревожности, при слишком долгом воздействии возникают утомление и усталость.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Зеленый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Природа, здоровье, умиротворение, зависть, неудача.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Успокаивает нервную систему, снижает усталость, концентрирует внимание.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Оранжевый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Тепло, уверенность, свет.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Оказывает благоприятное воздействие на работоспособность, при длительном восприятии оранжевого может появиться утомление.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Коричневый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Земля, очаг, устойчивость.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Создает атмосферу уюта и безопасности, располагает к коммуникации.</a:t>
                      </a:r>
                      <a:endParaRPr sz="1400" u="none" cap="none" strike="noStrike"/>
                    </a:p>
                  </a:txBody>
                  <a:tcPr marT="28100" marB="28100" marR="56225" marL="562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4" name="Google Shape;594;p84"/>
          <p:cNvSpPr/>
          <p:nvPr/>
        </p:nvSpPr>
        <p:spPr>
          <a:xfrm>
            <a:off x="477431" y="41193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Цветовые ассоциации, восприятие цвета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/>
              <a:t>Домашняя работа</a:t>
            </a:r>
            <a:endParaRPr/>
          </a:p>
        </p:txBody>
      </p:sp>
      <p:sp>
        <p:nvSpPr>
          <p:cNvPr id="600" name="Google Shape;600;p8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Выбрать информационную систему (мобильное приложение, сайт и т.п.).  На его примере показать как там используются особенности ощущения и восприятия, в том числе и восприятия цвета. Выделите визуальные паттерны, которые используются в ресурсе.</a:t>
            </a:r>
            <a:endParaRPr/>
          </a:p>
          <a:p>
            <a:pPr indent="0" lvl="0" marL="13144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Пример выполнения задания находится в папке Домашние работы-Домашняя работа 1 (https://docs.google.com/document/d/1Uyi5070pjwlUML1SgJjiwHLW_N4ux9dy/edit?usp=drive_link&amp;ouid=101111542012602380248&amp;rtpof=true&amp;sd=true)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2022-09-30T00:23:34Z</dcterms:created>
  <dc:creator>Julija</dc:creator>
</cp:coreProperties>
</file>