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9144000"/>
  <p:notesSz cx="6858000" cy="9144000"/>
  <p:embeddedFontLst>
    <p:embeddedFont>
      <p:font typeface="Libre Franklin"/>
      <p:regular r:id="rId33"/>
      <p:bold r:id="rId34"/>
      <p:italic r:id="rId35"/>
      <p:boldItalic r:id="rId36"/>
    </p:embeddedFont>
    <p:embeddedFont>
      <p:font typeface="Libre Baskerville"/>
      <p:regular r:id="rId37"/>
      <p:bold r:id="rId38"/>
      <p: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iauPrh8s4UdKmvj3WNHn1Sp8vm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LibreFranklin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LibreFranklin-italic.fntdata"/><Relationship Id="rId12" Type="http://schemas.openxmlformats.org/officeDocument/2006/relationships/slide" Target="slides/slide7.xml"/><Relationship Id="rId34" Type="http://schemas.openxmlformats.org/officeDocument/2006/relationships/font" Target="fonts/LibreFranklin-bold.fntdata"/><Relationship Id="rId15" Type="http://schemas.openxmlformats.org/officeDocument/2006/relationships/slide" Target="slides/slide10.xml"/><Relationship Id="rId37" Type="http://schemas.openxmlformats.org/officeDocument/2006/relationships/font" Target="fonts/LibreBaskerville-regular.fntdata"/><Relationship Id="rId14" Type="http://schemas.openxmlformats.org/officeDocument/2006/relationships/slide" Target="slides/slide9.xml"/><Relationship Id="rId36" Type="http://schemas.openxmlformats.org/officeDocument/2006/relationships/font" Target="fonts/LibreFranklin-boldItalic.fntdata"/><Relationship Id="rId17" Type="http://schemas.openxmlformats.org/officeDocument/2006/relationships/slide" Target="slides/slide12.xml"/><Relationship Id="rId39" Type="http://schemas.openxmlformats.org/officeDocument/2006/relationships/font" Target="fonts/LibreBaskerville-italic.fntdata"/><Relationship Id="rId16" Type="http://schemas.openxmlformats.org/officeDocument/2006/relationships/slide" Target="slides/slide11.xml"/><Relationship Id="rId38" Type="http://schemas.openxmlformats.org/officeDocument/2006/relationships/font" Target="fonts/LibreBaskerville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80aac6e9dd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280aac6e9d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80aac6e9dd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280aac6e9d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80aac6e9dd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280aac6e9d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80aac6e9dd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280aac6e9d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80aac6e9dd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280aac6e9d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641b005a78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1641b005a7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showMasterSp="0" type="title">
  <p:cSld name="TITLE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" name="Google Shape;15;p26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" name="Google Shape;16;p26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" name="Google Shape;20;p2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1" name="Google Shape;21;p26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2" name="Google Shape;22;p26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3" name="Google Shape;23;p26"/>
          <p:cNvSpPr txBox="1"/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" name="Google Shape;29;p2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8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" type="body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2" type="body"/>
          </p:nvPr>
        </p:nvSpPr>
        <p:spPr>
          <a:xfrm>
            <a:off x="49530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7" name="Google Shape;37;p28"/>
          <p:cNvSpPr txBox="1"/>
          <p:nvPr>
            <p:ph idx="3" type="body"/>
          </p:nvPr>
        </p:nvSpPr>
        <p:spPr>
          <a:xfrm>
            <a:off x="9144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4" type="body"/>
          </p:nvPr>
        </p:nvSpPr>
        <p:spPr>
          <a:xfrm>
            <a:off x="49530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showMasterSp="0" type="secHead">
  <p:cSld name="SECTION_HEADER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1" name="Google Shape;41;p2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2" name="Google Shape;42;p29"/>
          <p:cNvSpPr txBox="1"/>
          <p:nvPr>
            <p:ph type="title"/>
          </p:nvPr>
        </p:nvSpPr>
        <p:spPr>
          <a:xfrm>
            <a:off x="722313" y="9525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" type="body"/>
          </p:nvPr>
        </p:nvSpPr>
        <p:spPr>
          <a:xfrm>
            <a:off x="722313" y="2547938"/>
            <a:ext cx="7772400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9"/>
          <p:cNvSpPr txBox="1"/>
          <p:nvPr>
            <p:ph idx="11" type="ftr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9"/>
          <p:cNvSpPr/>
          <p:nvPr/>
        </p:nvSpPr>
        <p:spPr>
          <a:xfrm flipH="1" rot="10800000">
            <a:off x="69412" y="2376830"/>
            <a:ext cx="9013515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7" name="Google Shape;47;p29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8" name="Google Shape;48;p29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9" name="Google Shape;49;p29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0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5" name="Google Shape;55;p30"/>
          <p:cNvSpPr txBox="1"/>
          <p:nvPr>
            <p:ph idx="1" type="body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1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2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8" name="Google Shape;68;p33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9" name="Google Shape;69;p33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>
            <a:off x="914400" y="1600200"/>
            <a:ext cx="190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4" name="Google Shape;74;p33"/>
          <p:cNvSpPr txBox="1"/>
          <p:nvPr>
            <p:ph idx="2" type="body"/>
          </p:nvPr>
        </p:nvSpPr>
        <p:spPr>
          <a:xfrm>
            <a:off x="2971800" y="1600200"/>
            <a:ext cx="571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4"/>
          <p:cNvSpPr txBox="1"/>
          <p:nvPr>
            <p:ph type="title"/>
          </p:nvPr>
        </p:nvSpPr>
        <p:spPr>
          <a:xfrm>
            <a:off x="914400" y="4900550"/>
            <a:ext cx="73152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" type="body"/>
          </p:nvPr>
        </p:nvSpPr>
        <p:spPr>
          <a:xfrm>
            <a:off x="914400" y="5445825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indent="-293369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8257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850"/>
              <a:buChar char="⚫"/>
              <a:defRPr sz="1000"/>
            </a:lvl3pPr>
            <a:lvl4pPr indent="-27431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720"/>
              <a:buChar char="⚫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1" type="ftr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1" name="Google Shape;81;p34"/>
          <p:cNvSpPr/>
          <p:nvPr/>
        </p:nvSpPr>
        <p:spPr>
          <a:xfrm flipH="1" rot="10800000">
            <a:off x="68307" y="4683555"/>
            <a:ext cx="900684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2" name="Google Shape;82;p34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3" name="Google Shape;83;p34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4" name="Google Shape;84;p34"/>
          <p:cNvSpPr/>
          <p:nvPr>
            <p:ph idx="2" type="pic"/>
          </p:nvPr>
        </p:nvSpPr>
        <p:spPr>
          <a:xfrm>
            <a:off x="68308" y="66675"/>
            <a:ext cx="9001873" cy="4581525"/>
          </a:xfrm>
          <a:prstGeom prst="round2SameRect">
            <a:avLst>
              <a:gd fmla="val 7101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5"/>
          <p:cNvSpPr txBox="1"/>
          <p:nvPr>
            <p:ph idx="1" type="body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35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6"/>
          <p:cNvSpPr txBox="1"/>
          <p:nvPr>
            <p:ph type="title"/>
          </p:nvPr>
        </p:nvSpPr>
        <p:spPr>
          <a:xfrm rot="5400000">
            <a:off x="4709478" y="2194564"/>
            <a:ext cx="585152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6"/>
          <p:cNvSpPr txBox="1"/>
          <p:nvPr>
            <p:ph idx="1" type="body"/>
          </p:nvPr>
        </p:nvSpPr>
        <p:spPr>
          <a:xfrm rot="5400000">
            <a:off x="7699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36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6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" name="Google Shape;7;p25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" name="Google Shape;8;p2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935" lvl="0" marL="4572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" name="Google Shape;10;p25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2" name="Google Shape;12;p2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5.jpg"/><Relationship Id="rId5" Type="http://schemas.openxmlformats.org/officeDocument/2006/relationships/image" Target="../media/image4.jpg"/><Relationship Id="rId6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sp>
        <p:nvSpPr>
          <p:cNvPr id="102" name="Google Shape;102;p1"/>
          <p:cNvSpPr txBox="1"/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</a:pPr>
            <a:r>
              <a:rPr lang="ru-RU"/>
              <a:t>Основные теоретические подходы в когнитивной психологии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80aac6e9dd_0_4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ru-RU"/>
              <a:t>Предполагаемые когнитивные характеристики </a:t>
            </a:r>
            <a:r>
              <a:rPr lang="ru-RU" sz="2000"/>
              <a:t>(Когнитивная психология / Р. Солсо. — 6-е изд. — СПб.: Питер, 2006. — 589 с)</a:t>
            </a:r>
            <a:endParaRPr sz="2000"/>
          </a:p>
        </p:txBody>
      </p:sp>
      <p:sp>
        <p:nvSpPr>
          <p:cNvPr id="108" name="Google Shape;108;g280aac6e9dd_0_4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pic>
        <p:nvPicPr>
          <p:cNvPr id="109" name="Google Shape;109;g280aac6e9dd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075" y="1293675"/>
            <a:ext cx="7374150" cy="532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80aac6e9dd_0_5"/>
          <p:cNvSpPr txBox="1"/>
          <p:nvPr>
            <p:ph idx="1" type="body"/>
          </p:nvPr>
        </p:nvSpPr>
        <p:spPr>
          <a:xfrm>
            <a:off x="914400" y="141765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 Концептуальные науки, включая когнитивную психологию, имеют метафорический характер.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/>
              <a:t>Поэтому в них используются модели, которые позволяют обеспечить понятную  репрезентацию  характера  наблюдаемого  и  помочь  сделать  предсказания  при  развитии  гипотез.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sp>
        <p:nvSpPr>
          <p:cNvPr id="115" name="Google Shape;115;g280aac6e9dd_0_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Когнитивные модели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80aac6e9dd_0_2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Когнитивные модели</a:t>
            </a:r>
            <a:endParaRPr/>
          </a:p>
        </p:txBody>
      </p:sp>
      <p:sp>
        <p:nvSpPr>
          <p:cNvPr id="121" name="Google Shape;121;g280aac6e9dd_0_2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pic>
        <p:nvPicPr>
          <p:cNvPr id="122" name="Google Shape;122;g280aac6e9dd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017975"/>
            <a:ext cx="7772400" cy="102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80aac6e9dd_0_1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ru-RU"/>
              <a:t>Когнитивные модели (Джеймс, 1890)</a:t>
            </a:r>
            <a:endParaRPr/>
          </a:p>
        </p:txBody>
      </p:sp>
      <p:sp>
        <p:nvSpPr>
          <p:cNvPr id="128" name="Google Shape;128;g280aac6e9dd_0_1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pic>
        <p:nvPicPr>
          <p:cNvPr id="129" name="Google Shape;129;g280aac6e9dd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1850" y="2116550"/>
            <a:ext cx="7290700" cy="216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80aac6e9dd_0_18"/>
          <p:cNvSpPr txBox="1"/>
          <p:nvPr>
            <p:ph type="title"/>
          </p:nvPr>
        </p:nvSpPr>
        <p:spPr>
          <a:xfrm>
            <a:off x="394300" y="274650"/>
            <a:ext cx="8292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sz="3200"/>
              <a:t>Модифицированная когнитивная модель (Во, Норман, 1965)(по Р.Солсо)</a:t>
            </a:r>
            <a:endParaRPr sz="3200"/>
          </a:p>
        </p:txBody>
      </p:sp>
      <p:sp>
        <p:nvSpPr>
          <p:cNvPr id="135" name="Google Shape;135;g280aac6e9dd_0_1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pic>
        <p:nvPicPr>
          <p:cNvPr id="136" name="Google Shape;136;g280aac6e9dd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5871" y="1718025"/>
            <a:ext cx="7214950" cy="38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Компьютерная метафора</a:t>
            </a:r>
            <a:endParaRPr/>
          </a:p>
        </p:txBody>
      </p:sp>
      <p:sp>
        <p:nvSpPr>
          <p:cNvPr id="142" name="Google Shape;142;p2"/>
          <p:cNvSpPr txBox="1"/>
          <p:nvPr>
            <p:ph idx="1" type="body"/>
          </p:nvPr>
        </p:nvSpPr>
        <p:spPr>
          <a:xfrm>
            <a:off x="539552" y="1447800"/>
            <a:ext cx="8147248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аналогия «человека познающего» и технического устройства, которая используется  для  теоретического  моделирования  человеческой  психики.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4080"/>
              <a:buNone/>
            </a:pPr>
            <a:r>
              <a:rPr lang="ru-RU" sz="4800"/>
              <a:t>! </a:t>
            </a:r>
            <a:r>
              <a:rPr lang="ru-RU"/>
              <a:t>Информационный обмен с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внешней средой</a:t>
            </a:r>
            <a:endParaRPr/>
          </a:p>
        </p:txBody>
      </p:sp>
      <p:pic>
        <p:nvPicPr>
          <p:cNvPr id="143" name="Google Shape;14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0112" y="2780928"/>
            <a:ext cx="2835771" cy="332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Работа  компьютера  описывается </a:t>
            </a:r>
            <a:br>
              <a:rPr lang="ru-RU"/>
            </a:br>
            <a:r>
              <a:rPr lang="ru-RU"/>
              <a:t>в  терминах  ментальных  процессов</a:t>
            </a:r>
            <a:endParaRPr/>
          </a:p>
        </p:txBody>
      </p:sp>
      <p:pic>
        <p:nvPicPr>
          <p:cNvPr id="149" name="Google Shape;149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1461517"/>
            <a:ext cx="2238300" cy="20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/>
          <p:cNvSpPr/>
          <p:nvPr/>
        </p:nvSpPr>
        <p:spPr>
          <a:xfrm>
            <a:off x="539552" y="4581128"/>
            <a:ext cx="1872208" cy="7920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Память</a:t>
            </a:r>
            <a:endParaRPr b="1" i="0" sz="2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2843808" y="4733528"/>
            <a:ext cx="1872208" cy="7920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Сенсорные входы</a:t>
            </a:r>
            <a:endParaRPr b="1" i="0" sz="2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5076056" y="4733528"/>
            <a:ext cx="3528392" cy="9277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Принимает решения</a:t>
            </a:r>
            <a:endParaRPr b="1" i="0" sz="2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5220072" y="3573016"/>
            <a:ext cx="3600400" cy="7920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Анализирует информацию</a:t>
            </a:r>
            <a:endParaRPr b="1" i="0" sz="2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cxnSp>
        <p:nvCxnSpPr>
          <p:cNvPr id="154" name="Google Shape;154;p3"/>
          <p:cNvCxnSpPr/>
          <p:nvPr/>
        </p:nvCxnSpPr>
        <p:spPr>
          <a:xfrm flipH="1">
            <a:off x="1619672" y="3356992"/>
            <a:ext cx="457200" cy="1224136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5" name="Google Shape;155;p3"/>
          <p:cNvCxnSpPr/>
          <p:nvPr/>
        </p:nvCxnSpPr>
        <p:spPr>
          <a:xfrm>
            <a:off x="2699792" y="3358686"/>
            <a:ext cx="648072" cy="137484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6" name="Google Shape;156;p3"/>
          <p:cNvCxnSpPr/>
          <p:nvPr/>
        </p:nvCxnSpPr>
        <p:spPr>
          <a:xfrm>
            <a:off x="3156992" y="3358686"/>
            <a:ext cx="2063080" cy="137484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7" name="Google Shape;157;p3"/>
          <p:cNvCxnSpPr/>
          <p:nvPr/>
        </p:nvCxnSpPr>
        <p:spPr>
          <a:xfrm>
            <a:off x="3156992" y="3102688"/>
            <a:ext cx="2063080" cy="75836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Компьютерная метафора</a:t>
            </a:r>
            <a:endParaRPr/>
          </a:p>
        </p:txBody>
      </p:sp>
      <p:pic>
        <p:nvPicPr>
          <p:cNvPr id="163" name="Google Shape;163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7824" y="1484784"/>
            <a:ext cx="285750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"/>
          <p:cNvSpPr txBox="1"/>
          <p:nvPr/>
        </p:nvSpPr>
        <p:spPr>
          <a:xfrm>
            <a:off x="2987824" y="3172326"/>
            <a:ext cx="30243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Компьютерное железо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descr="Тайны мозга: почему люди видят мир с запозданием на 15 секунд" id="165" name="Google Shape;165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340992" y="5651956"/>
            <a:ext cx="30243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Подсистема входов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6515200" y="5667873"/>
            <a:ext cx="2628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Подсистема вывода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3635896" y="4571836"/>
            <a:ext cx="2520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Мышление и  память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3365328" y="5529374"/>
            <a:ext cx="30243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Процессор со встроенными программами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descr="Строение глаза, фото, картинки схемы строения глаза человека." id="170" name="Google Shape;17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426" y="4213827"/>
            <a:ext cx="1441575" cy="1085350"/>
          </a:xfrm>
          <a:prstGeom prst="rect">
            <a:avLst/>
          </a:prstGeom>
          <a:noFill/>
          <a:ln>
            <a:noFill/>
          </a:ln>
        </p:spPr>
      </p:pic>
      <p:sp>
        <p:nvSpPr>
          <p:cNvPr descr="⬇ Скачать картинки Уши, стоковые фото Уши в хорошем качестве | Depositphotos" id="171" name="Google Shape;171;p4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descr="⬇ Скачать картинки Уши, стоковые фото Уши в хорошем качестве | Depositphotos" id="172" name="Google Shape;172;p4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descr="⬇ Скачать картинки Уши, стоковые фото Уши в хорошем качестве | Depositphotos" id="173" name="Google Shape;173;p4"/>
          <p:cNvSpPr/>
          <p:nvPr/>
        </p:nvSpPr>
        <p:spPr>
          <a:xfrm>
            <a:off x="612775" y="3127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descr="Колонка Селфа. Имеющий уши да слышит" id="174" name="Google Shape;17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5378" y="4047469"/>
            <a:ext cx="1404822" cy="1685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32910" y="3776498"/>
            <a:ext cx="2867025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Отрицательная обратная связь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(решение задачи прерывает активность)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«Блочное» описание психики как системы переработки информации</a:t>
            </a:r>
            <a:endParaRPr/>
          </a:p>
        </p:txBody>
      </p:sp>
      <p:sp>
        <p:nvSpPr>
          <p:cNvPr id="187" name="Google Shape;187;p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AutoNum type="arabicPeriod"/>
            </a:pPr>
            <a:r>
              <a:rPr lang="ru-RU"/>
              <a:t>Линейная модель с обратной связью</a:t>
            </a:r>
            <a:endParaRPr/>
          </a:p>
          <a:p>
            <a:pPr indent="-374015" lvl="0" marL="51435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374015" lvl="0" marL="51435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374015" lvl="0" marL="51435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374015" lvl="0" marL="51435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AutoNum type="arabicPeriod"/>
            </a:pPr>
            <a:r>
              <a:rPr lang="ru-RU"/>
              <a:t>Линейная модель с управлением</a:t>
            </a:r>
            <a:endParaRPr/>
          </a:p>
        </p:txBody>
      </p:sp>
      <p:pic>
        <p:nvPicPr>
          <p:cNvPr id="188" name="Google Shape;1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752" y="1988840"/>
            <a:ext cx="3881564" cy="1296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752" y="4869160"/>
            <a:ext cx="3881564" cy="129614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/>
          <p:nvPr/>
        </p:nvSpPr>
        <p:spPr>
          <a:xfrm>
            <a:off x="3601930" y="4332526"/>
            <a:ext cx="1296000" cy="513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Блок решения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cxnSp>
        <p:nvCxnSpPr>
          <p:cNvPr id="191" name="Google Shape;191;p6"/>
          <p:cNvCxnSpPr>
            <a:stCxn id="189" idx="0"/>
          </p:cNvCxnSpPr>
          <p:nvPr/>
        </p:nvCxnSpPr>
        <p:spPr>
          <a:xfrm flipH="1">
            <a:off x="4249934" y="4869160"/>
            <a:ext cx="30600" cy="14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«Блочное» описание психики как системы переработки информации</a:t>
            </a:r>
            <a:endParaRPr/>
          </a:p>
        </p:txBody>
      </p:sp>
      <p:sp>
        <p:nvSpPr>
          <p:cNvPr id="197" name="Google Shape;197;p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3. Структурно-уровневая модель с обратной связью</a:t>
            </a:r>
            <a:endParaRPr/>
          </a:p>
        </p:txBody>
      </p:sp>
      <p:pic>
        <p:nvPicPr>
          <p:cNvPr id="198" name="Google Shape;1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5856" y="2310953"/>
            <a:ext cx="3024336" cy="3510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Описание не структуры психики, а структуру ЦНС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 Отсутствие у психических функций жесткой локализации, процессуальность психики, нерасчлененность и многомерность психической реальности, ее целостность, активность познавательного процесса — все это привело исследователей к попыткам использовать в качестве метафоры, описывающей процесс переработки информации, не «железо» компьютера, а его программное обеспечение.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Таким образом, в соответствии с компьютерной метафорой гипотезы о непосредственно не наблюдаемых, внутренних процессах должны быть таковы, чтобы их можно было конструктивно интерпретировать в терминах организации вычислительных систем.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3740"/>
              <a:buNone/>
            </a:pPr>
            <a:r>
              <a:rPr lang="ru-RU" sz="4400"/>
              <a:t>! </a:t>
            </a:r>
            <a:r>
              <a:rPr lang="ru-RU"/>
              <a:t>Компьютерная  метафора  не  заменяет  психологическую  теорию,  она лишь призвана помочь сформулировать теорию в конструктивных понятиях.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Когнитивная		Кибернетика </a:t>
            </a:r>
            <a:br>
              <a:rPr lang="ru-RU"/>
            </a:br>
            <a:r>
              <a:rPr lang="ru-RU"/>
              <a:t>психология</a:t>
            </a:r>
            <a:endParaRPr/>
          </a:p>
        </p:txBody>
      </p:sp>
      <p:sp>
        <p:nvSpPr>
          <p:cNvPr id="216" name="Google Shape;216;p10"/>
          <p:cNvSpPr txBox="1"/>
          <p:nvPr>
            <p:ph idx="1" type="body"/>
          </p:nvPr>
        </p:nvSpPr>
        <p:spPr>
          <a:xfrm>
            <a:off x="4572000" y="1447800"/>
            <a:ext cx="4114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000"/>
              <a:buChar char="⚫"/>
            </a:pPr>
            <a:r>
              <a:rPr lang="ru-RU"/>
              <a:t>создание машин, которые могли бы воспроизвести сложные явления человеческой жизни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Char char="⚫"/>
            </a:pPr>
            <a:r>
              <a:rPr lang="ru-RU"/>
              <a:t>установление оптимальных отношений между человеком и машиной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Char char="⚫"/>
            </a:pPr>
            <a:r>
              <a:rPr lang="ru-RU"/>
              <a:t>Использование понятий, методов и данных когнитивной психологии  для формулирования принципов и законов кибернетики</a:t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 flipH="1" rot="10800000">
            <a:off x="2483768" y="1340768"/>
            <a:ext cx="1224136" cy="2016221"/>
          </a:xfrm>
          <a:prstGeom prst="bentArrow">
            <a:avLst>
              <a:gd fmla="val 25000" name="adj1"/>
              <a:gd fmla="val 25000" name="adj2"/>
              <a:gd fmla="val 25000" name="adj3"/>
              <a:gd fmla="val 0" name="adj4"/>
            </a:avLst>
          </a:prstGeom>
          <a:solidFill>
            <a:schemeClr val="accent1"/>
          </a:solidFill>
          <a:ln cap="flat" cmpd="sng" w="12700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Когнитивная		Кибернетика </a:t>
            </a:r>
            <a:br>
              <a:rPr lang="ru-RU"/>
            </a:br>
            <a:r>
              <a:rPr lang="ru-RU"/>
              <a:t>психология</a:t>
            </a:r>
            <a:endParaRPr/>
          </a:p>
        </p:txBody>
      </p:sp>
      <p:sp>
        <p:nvSpPr>
          <p:cNvPr id="223" name="Google Shape;223;p11"/>
          <p:cNvSpPr txBox="1"/>
          <p:nvPr>
            <p:ph idx="1" type="body"/>
          </p:nvPr>
        </p:nvSpPr>
        <p:spPr>
          <a:xfrm>
            <a:off x="755576" y="1628800"/>
            <a:ext cx="4114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000"/>
              <a:buChar char="⚫"/>
            </a:pPr>
            <a:r>
              <a:rPr lang="ru-RU"/>
              <a:t>попытки описать сложные психологические явления языком ясных и точных формул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Char char="⚫"/>
            </a:pPr>
            <a:r>
              <a:rPr lang="ru-RU"/>
              <a:t>абстрактные представления о душе заменяются четкими принципами работы автоматических устройств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Char char="⚫"/>
            </a:pPr>
            <a:r>
              <a:rPr lang="ru-RU"/>
              <a:t>для описания психологических феноменов используются понятия «модель», «алгоритм», «обратная связь».</a:t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 rot="10800000">
            <a:off x="5220072" y="1341525"/>
            <a:ext cx="1152128" cy="2016221"/>
          </a:xfrm>
          <a:prstGeom prst="bentArrow">
            <a:avLst>
              <a:gd fmla="val 25000" name="adj1"/>
              <a:gd fmla="val 25000" name="adj2"/>
              <a:gd fmla="val 25000" name="adj3"/>
              <a:gd fmla="val 0" name="adj4"/>
            </a:avLst>
          </a:prstGeom>
          <a:solidFill>
            <a:schemeClr val="accent1"/>
          </a:solidFill>
          <a:ln cap="flat" cmpd="sng" w="12700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"/>
          <p:cNvSpPr txBox="1"/>
          <p:nvPr>
            <p:ph type="title"/>
          </p:nvPr>
        </p:nvSpPr>
        <p:spPr>
          <a:xfrm>
            <a:off x="914400" y="273050"/>
            <a:ext cx="7772400" cy="63567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Информационная метафора</a:t>
            </a:r>
            <a:endParaRPr/>
          </a:p>
        </p:txBody>
      </p:sp>
      <p:sp>
        <p:nvSpPr>
          <p:cNvPr id="230" name="Google Shape;230;p12"/>
          <p:cNvSpPr txBox="1"/>
          <p:nvPr>
            <p:ph idx="1" type="body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ru-RU"/>
              <a:t>Ульрик Найссер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lang="ru-RU"/>
              <a:t>(1928-2012)</a:t>
            </a:r>
            <a:endParaRPr/>
          </a:p>
        </p:txBody>
      </p:sp>
      <p:pic>
        <p:nvPicPr>
          <p:cNvPr id="231" name="Google Shape;231;p12"/>
          <p:cNvPicPr preferRelativeResize="0"/>
          <p:nvPr>
            <p:ph idx="3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3688" y="2780928"/>
            <a:ext cx="2076822" cy="290755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2"/>
          <p:cNvSpPr txBox="1"/>
          <p:nvPr>
            <p:ph idx="4" type="body"/>
          </p:nvPr>
        </p:nvSpPr>
        <p:spPr>
          <a:xfrm>
            <a:off x="4953000" y="1412776"/>
            <a:ext cx="3733800" cy="47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Когнитивные процессы лучше изучать моделируя информационный поток, проходящий через различные стадии трансформации.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Информационная метафора</a:t>
            </a:r>
            <a:endParaRPr/>
          </a:p>
        </p:txBody>
      </p:sp>
      <p:sp>
        <p:nvSpPr>
          <p:cNvPr id="238" name="Google Shape;238;p1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Человек это активная система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Процесс познания – это непрерывный процесс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проверки когнитивных гипотез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Информационная метафора</a:t>
            </a:r>
            <a:endParaRPr/>
          </a:p>
        </p:txBody>
      </p:sp>
      <p:sp>
        <p:nvSpPr>
          <p:cNvPr id="244" name="Google Shape;244;p1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Индивид воспринимает целостные сцены жизни.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Эти сцены распознаются и хранятся в памяти, а при необходимости используются для регуляции поведения.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Психической единицей информации, которая хранится в долговременной памяти и регулирует действия индивида, является целостная сцена реальности — фрейм.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Отдельные фреймы связаны между собой системой «адресов» и «ссылок».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Недостатки информационной метафоры</a:t>
            </a:r>
            <a:endParaRPr/>
          </a:p>
        </p:txBody>
      </p:sp>
      <p:sp>
        <p:nvSpPr>
          <p:cNvPr id="250" name="Google Shape;250;p1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Рассматривая процесс познания, информационный подход ничего не говорит о механизмах порождения субъективной реальности, ее функциях и природе, о природе и функциях сознания.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 Так как «когнитивные» схемы, и «ментальные» операции, и механизмы переработки информации не осознаются испытуемыми, а следовательно, эти сущности следует либо отнести к бессознательным психическим процессам.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000"/>
              <a:buChar char="⚫"/>
            </a:pPr>
            <a:r>
              <a:rPr lang="ru-RU"/>
              <a:t>Теоретической основой коннекционизма послужили модели «нейронных сетей» и модели параллельной распределенной обработки информации.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Char char="⚫"/>
            </a:pPr>
            <a:r>
              <a:rPr lang="ru-RU"/>
              <a:t>Элементом сети может быть след памяти, лексическая единица, образ, понятие, фрейм, понимаемый как целостная сцена (многомерная единица информации). Каждая связь между элементами сети имеет определенный вес.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Char char="⚫"/>
            </a:pPr>
            <a:r>
              <a:rPr lang="ru-RU"/>
              <a:t>Сеть представляет собой несколько слоев элементов: «входной слой», элементы которого контактируют со средой; «выходной слой»; «скрытые элементы» — система промежуточных слоев, не имеющих с внешней средой непосредственного контакта.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Голографическая модель</a:t>
            </a:r>
            <a:endParaRPr/>
          </a:p>
        </p:txBody>
      </p:sp>
      <p:sp>
        <p:nvSpPr>
          <p:cNvPr id="261" name="Google Shape;261;p1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Актуально переживаемую психическую реальность можно рассматривать как «стоячую волну» — голограмму, возникающую в результате функционирования головного мозга как целостной системы.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"/>
          <p:cNvSpPr txBox="1"/>
          <p:nvPr>
            <p:ph type="title"/>
          </p:nvPr>
        </p:nvSpPr>
        <p:spPr>
          <a:xfrm>
            <a:off x="914400" y="274638"/>
            <a:ext cx="805008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Эволюционная когнитивная психология</a:t>
            </a:r>
            <a:endParaRPr/>
          </a:p>
        </p:txBody>
      </p:sp>
      <p:sp>
        <p:nvSpPr>
          <p:cNvPr id="267" name="Google Shape;267;p1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Познание, восприятие, память, язык, мышление и т. п. — легче понять в контексте физической и социальной эволюции человека.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Гипотеза о существовании универсальных когнитивных характеристик человека и о том, что эти общие и широко распространенные характеристики разума являются результатом возникших в ходе эволюции психологических механизмов, а не социальных взаимодействий.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Обнаружение сенсорных сигналов</a:t>
            </a:r>
            <a:endParaRPr/>
          </a:p>
        </p:txBody>
      </p:sp>
      <p:sp>
        <p:nvSpPr>
          <p:cNvPr id="273" name="Google Shape;273;p1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3985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Процесс переработки информации (Роберт Солсо)</a:t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1990831" y="2276872"/>
            <a:ext cx="6768752" cy="21602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Внутренние процессы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539552" y="2708920"/>
            <a:ext cx="1152128" cy="6480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Энергия стимула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5220072" y="2564904"/>
            <a:ext cx="3312368" cy="77285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Сенсорное обнаружение, иконическое/эхоическое хранение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3851920" y="2689684"/>
            <a:ext cx="1152128" cy="6480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Преобразование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2148880" y="2716361"/>
            <a:ext cx="1343000" cy="6480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Сенсорная системы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2555776" y="4869160"/>
            <a:ext cx="1728192" cy="6480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Внешняя деятельность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5399760" y="3649944"/>
            <a:ext cx="2988664" cy="6480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Деятельность ЦНС и кодирование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2987824" y="3666735"/>
            <a:ext cx="2016224" cy="6480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Память и преобразование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cxnSp>
        <p:nvCxnSpPr>
          <p:cNvPr id="287" name="Google Shape;287;p20"/>
          <p:cNvCxnSpPr>
            <a:endCxn id="283" idx="1"/>
          </p:cNvCxnSpPr>
          <p:nvPr/>
        </p:nvCxnSpPr>
        <p:spPr>
          <a:xfrm>
            <a:off x="1691680" y="3013697"/>
            <a:ext cx="457200" cy="2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8" name="Google Shape;288;p20"/>
          <p:cNvCxnSpPr/>
          <p:nvPr/>
        </p:nvCxnSpPr>
        <p:spPr>
          <a:xfrm>
            <a:off x="3452196" y="3013720"/>
            <a:ext cx="457200" cy="2667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9" name="Google Shape;289;p20"/>
          <p:cNvCxnSpPr/>
          <p:nvPr/>
        </p:nvCxnSpPr>
        <p:spPr>
          <a:xfrm flipH="1" rot="10800000">
            <a:off x="4971207" y="2951330"/>
            <a:ext cx="228600" cy="3560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90" name="Google Shape;290;p20"/>
          <p:cNvCxnSpPr/>
          <p:nvPr/>
        </p:nvCxnSpPr>
        <p:spPr>
          <a:xfrm>
            <a:off x="6588224" y="3364433"/>
            <a:ext cx="0" cy="30230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91" name="Google Shape;291;p20"/>
          <p:cNvCxnSpPr/>
          <p:nvPr/>
        </p:nvCxnSpPr>
        <p:spPr>
          <a:xfrm>
            <a:off x="3516911" y="4314807"/>
            <a:ext cx="0" cy="5543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92" name="Google Shape;292;p20"/>
          <p:cNvCxnSpPr>
            <a:stCxn id="285" idx="1"/>
          </p:cNvCxnSpPr>
          <p:nvPr/>
        </p:nvCxnSpPr>
        <p:spPr>
          <a:xfrm rot="10800000">
            <a:off x="5004060" y="3973980"/>
            <a:ext cx="395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93" name="Google Shape;293;p20"/>
          <p:cNvCxnSpPr>
            <a:stCxn id="284" idx="1"/>
          </p:cNvCxnSpPr>
          <p:nvPr/>
        </p:nvCxnSpPr>
        <p:spPr>
          <a:xfrm rot="10800000">
            <a:off x="827476" y="3337696"/>
            <a:ext cx="1728300" cy="1855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641b005a78_0_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Сенсорное хранение (</a:t>
            </a:r>
            <a:r>
              <a:rPr lang="ru-RU"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У. Найссер</a:t>
            </a:r>
            <a:r>
              <a:rPr lang="ru-RU"/>
              <a:t>)</a:t>
            </a:r>
            <a:endParaRPr/>
          </a:p>
        </p:txBody>
      </p:sp>
      <p:sp>
        <p:nvSpPr>
          <p:cNvPr id="299" name="Google Shape;299;g1641b005a78_0_5"/>
          <p:cNvSpPr txBox="1"/>
          <p:nvPr/>
        </p:nvSpPr>
        <p:spPr>
          <a:xfrm>
            <a:off x="525275" y="1750275"/>
            <a:ext cx="40470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Иконическая память</a:t>
            </a:r>
            <a:endParaRPr b="1" i="0" sz="18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Обеспечивает сохранность  зрительных  впечатлений  и  их  кратковременную </a:t>
            </a:r>
            <a:endParaRPr b="0" i="0" sz="18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доступность для дальнейшей обработки.</a:t>
            </a:r>
            <a:endParaRPr b="0" i="0" sz="18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Длительность хранения 250 мс.</a:t>
            </a:r>
            <a:endParaRPr b="0" i="0" sz="18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Иконическое хранилище может кратковременно удерживать зрительную 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информацию в ее исходном виде  и с большой детальностью. Оно 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является довольно примитивным видом памяти, в котором инфор-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мация  не  преобразуется  и  не  связывается  с  другой  информацией.</a:t>
            </a:r>
            <a:endParaRPr b="0" i="0" sz="18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cxnSp>
        <p:nvCxnSpPr>
          <p:cNvPr id="300" name="Google Shape;300;g1641b005a78_0_5"/>
          <p:cNvCxnSpPr>
            <a:endCxn id="299" idx="0"/>
          </p:cNvCxnSpPr>
          <p:nvPr/>
        </p:nvCxnSpPr>
        <p:spPr>
          <a:xfrm flipH="1">
            <a:off x="2548775" y="1417575"/>
            <a:ext cx="926700" cy="33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1" name="Google Shape;301;g1641b005a78_0_5"/>
          <p:cNvCxnSpPr/>
          <p:nvPr/>
        </p:nvCxnSpPr>
        <p:spPr>
          <a:xfrm>
            <a:off x="4504600" y="1271100"/>
            <a:ext cx="778800" cy="57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2" name="Google Shape;302;g1641b005a78_0_5"/>
          <p:cNvSpPr txBox="1"/>
          <p:nvPr/>
        </p:nvSpPr>
        <p:spPr>
          <a:xfrm>
            <a:off x="4927925" y="1931525"/>
            <a:ext cx="35559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ru-RU" sz="19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Эхоическая память</a:t>
            </a:r>
            <a:endParaRPr b="1" i="0" sz="19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-RU" sz="19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Сенсорная слуховая память </a:t>
            </a:r>
            <a:endParaRPr b="0" i="0" sz="19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-RU" sz="19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Время хранения в эхоической памяти составляет от 250 мс до 4 с. </a:t>
            </a:r>
            <a:endParaRPr b="0" i="0" sz="19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Обнаружение сенсорных сигналов</a:t>
            </a:r>
            <a:endParaRPr/>
          </a:p>
        </p:txBody>
      </p:sp>
      <p:sp>
        <p:nvSpPr>
          <p:cNvPr id="308" name="Google Shape;308;p2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это начальный этап обработки информации, все элементы которого относительно конкретны и осязаемы.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 Стимулы,  интенсивность которых выше определенного уровня, активируют чувствительные рецепторы.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Обработка сенсорных сигналов зависит от знаний человека о мире.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праведливость">
  <a:themeElements>
    <a:clrScheme name="Справедливость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2022-09-30T00:23:34Z</dcterms:created>
  <dc:creator>Julija</dc:creator>
</cp:coreProperties>
</file>