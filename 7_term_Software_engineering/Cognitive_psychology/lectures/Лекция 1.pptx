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embeddedFontLst>
    <p:embeddedFont>
      <p:font typeface="Libre Baskerville"/>
      <p:regular r:id="rId30"/>
      <p:bold r:id="rId31"/>
      <p:italic r:id="rId32"/>
      <p:boldItalic r:id="rId33"/>
    </p:embeddedFont>
    <p:embeddedFont>
      <p:font typeface="Arial Black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q9Y6ozR9NFCWGiy8cTDqtTZAf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6AAF8D-3F02-4B47-A822-79BDF9238FF7}">
  <a:tblStyle styleId="{AE6AAF8D-3F02-4B47-A822-79BDF9238FF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ibreBaskerville-bold.fntdata"/><Relationship Id="rId30" Type="http://schemas.openxmlformats.org/officeDocument/2006/relationships/font" Target="fonts/LibreBaskerville-regular.fntdata"/><Relationship Id="rId11" Type="http://schemas.openxmlformats.org/officeDocument/2006/relationships/slide" Target="slides/slide5.xml"/><Relationship Id="rId33" Type="http://schemas.openxmlformats.org/officeDocument/2006/relationships/font" Target="fonts/LibreBaskerville-boldItalic.fntdata"/><Relationship Id="rId10" Type="http://schemas.openxmlformats.org/officeDocument/2006/relationships/slide" Target="slides/slide4.xml"/><Relationship Id="rId32" Type="http://schemas.openxmlformats.org/officeDocument/2006/relationships/font" Target="fonts/LibreBaskerville-italic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dd4c7ca61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7dd4c7ca6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dd4c7ca6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7dd4c7ca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dd4c7ca6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7dd4c7ca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4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5"/>
          <p:cNvSpPr txBox="1"/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645459" y="1287254"/>
            <a:ext cx="7869890" cy="4889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/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" name="Google Shape;27;p2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3" type="body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" name="Google Shape;29;p26"/>
          <p:cNvSpPr txBox="1"/>
          <p:nvPr>
            <p:ph idx="4" type="body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/>
          <p:nvPr>
            <p:ph idx="2" type="pic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8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32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/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" type="body"/>
          </p:nvPr>
        </p:nvSpPr>
        <p:spPr>
          <a:xfrm rot="5400000">
            <a:off x="2135549" y="-202836"/>
            <a:ext cx="4889709" cy="7869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4"/>
          <p:cNvSpPr txBox="1"/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" type="body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29" y="5144"/>
            <a:ext cx="9137141" cy="68528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3"/>
          <p:cNvSpPr txBox="1"/>
          <p:nvPr>
            <p:ph idx="1" type="body"/>
          </p:nvPr>
        </p:nvSpPr>
        <p:spPr>
          <a:xfrm>
            <a:off x="645459" y="1287254"/>
            <a:ext cx="7869890" cy="4889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" name="Google Shape;11;p23"/>
          <p:cNvSpPr txBox="1"/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jpg"/><Relationship Id="rId5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ED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3487479"/>
            <a:ext cx="9144000" cy="19532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-80822" y="5440680"/>
            <a:ext cx="47610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i="0" lang="ru-RU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Лекция 1</a:t>
            </a:r>
            <a:endParaRPr b="1" i="0" sz="4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Когнитивная психология:</a:t>
            </a:r>
            <a:br>
              <a:rPr b="1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история, современное состояние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Валитова Ю.О.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 i="0" sz="4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dd4c7ca61_0_113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3" name="Google Shape;93;g37dd4c7ca61_0_113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Группа по дисциплине https://t.me/+TPX01HEpuvQ2NGQy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Папка по дисциплине https://drive.google.com/drive/folders/1zRNG8cAaZVsWtw4y10QPrGT63i7gRC_M?usp=sharing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Когнитивная психология возникла и развивалась на стыке необихевиоризма, гештальтпсихологии и психолингвистики.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790833" y="197709"/>
            <a:ext cx="7720200" cy="13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96"/>
              <a:buFont typeface="Calibri"/>
              <a:buNone/>
            </a:pPr>
            <a:r>
              <a:rPr b="1" lang="ru-RU"/>
              <a:t>Бихевиоризм</a:t>
            </a:r>
            <a:r>
              <a:rPr lang="ru-RU"/>
              <a:t> (от англ. behaviour — поведение)</a:t>
            </a:r>
            <a:br>
              <a:rPr lang="ru-RU"/>
            </a:br>
            <a:endParaRPr sz="2800"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645459" y="1767016"/>
            <a:ext cx="7869900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направление в психологии ХХ в., отрицающее сознание как предмет научного исследования и сводящее психику к различным формам поведения, понятого как совокупность реакций организма на стимулы внешней среды.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628651" y="163208"/>
            <a:ext cx="7886698" cy="9987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Основатель  </a:t>
            </a:r>
            <a:br>
              <a:rPr lang="ru-RU"/>
            </a:br>
            <a:r>
              <a:rPr lang="ru-RU"/>
              <a:t>Джон Б. Уотсон (1913)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624699" y="1428659"/>
            <a:ext cx="7869891" cy="4711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Согласно Уотсону любое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поведение можно заранее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предсказать и управлять им,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 если подобрать правильный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подход к исследованию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поведения.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i="1" lang="ru-RU" sz="2400">
                <a:solidFill>
                  <a:srgbClr val="FF0000"/>
                </a:solidFill>
              </a:rPr>
              <a:t>Он основывал свою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i="1" lang="ru-RU" sz="2400">
                <a:solidFill>
                  <a:srgbClr val="FF0000"/>
                </a:solidFill>
              </a:rPr>
              <a:t>концепцию на работах </a:t>
            </a:r>
            <a:endParaRPr/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1357" y="1917098"/>
            <a:ext cx="1947475" cy="280038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4015947" y="4374292"/>
            <a:ext cx="543698" cy="163109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/>
              <a:t>Иван Петрович Павлов</a:t>
            </a:r>
            <a:endParaRPr/>
          </a:p>
        </p:txBody>
      </p:sp>
      <p:pic>
        <p:nvPicPr>
          <p:cNvPr id="119" name="Google Shape;119;p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951" y="1800740"/>
            <a:ext cx="2618488" cy="3684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>
            <p:ph idx="4" type="body"/>
          </p:nvPr>
        </p:nvSpPr>
        <p:spPr>
          <a:xfrm>
            <a:off x="4097810" y="1763670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разделение рефлексов на условные и безусловные;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свойства нервных систем.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-2387775" y="732825"/>
            <a:ext cx="30525" cy="6100"/>
          </a:xfrm>
          <a:custGeom>
            <a:rect b="b" l="l" r="r" t="t"/>
            <a:pathLst>
              <a:path extrusionOk="0" h="244" w="1221">
                <a:moveTo>
                  <a:pt x="0" y="0"/>
                </a:moveTo>
                <a:cubicBezTo>
                  <a:pt x="611" y="122"/>
                  <a:pt x="611" y="122"/>
                  <a:pt x="1221" y="24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-2235375" y="885225"/>
            <a:ext cx="30525" cy="6100"/>
          </a:xfrm>
          <a:custGeom>
            <a:rect b="b" l="l" r="r" t="t"/>
            <a:pathLst>
              <a:path extrusionOk="0" h="244" w="1221">
                <a:moveTo>
                  <a:pt x="0" y="0"/>
                </a:moveTo>
                <a:cubicBezTo>
                  <a:pt x="611" y="122"/>
                  <a:pt x="611" y="122"/>
                  <a:pt x="1221" y="24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642197" y="407772"/>
            <a:ext cx="3583800" cy="11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ru-RU"/>
              <a:t>Эдвард  Ли Торндайк </a:t>
            </a:r>
            <a:endParaRPr/>
          </a:p>
        </p:txBody>
      </p:sp>
      <p:pic>
        <p:nvPicPr>
          <p:cNvPr id="128" name="Google Shape;128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159" l="0" r="0" t="10152"/>
          <a:stretch/>
        </p:blipFill>
        <p:spPr>
          <a:xfrm>
            <a:off x="4962429" y="925646"/>
            <a:ext cx="3463444" cy="364635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629841" y="2057400"/>
            <a:ext cx="39915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Торндайк доказал возможность экспериментального и количественного изучения закономерностей поведения целостного организма в проблемной ситуации безотносительно к тому, как представлена эта ситуация в сфере сознания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629841" y="457200"/>
            <a:ext cx="29493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Black"/>
              <a:buNone/>
            </a:pPr>
            <a:r>
              <a:rPr lang="ru-RU" sz="2800">
                <a:latin typeface="Arial Black"/>
                <a:ea typeface="Arial Black"/>
                <a:cs typeface="Arial Black"/>
                <a:sym typeface="Arial Black"/>
              </a:rPr>
              <a:t>Когнитивный бихевиоризм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629841" y="1841157"/>
            <a:ext cx="29493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Эдвард Чейс Толмен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Стимул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Реакция</a:t>
            </a:r>
            <a:endParaRPr/>
          </a:p>
        </p:txBody>
      </p:sp>
      <p:pic>
        <p:nvPicPr>
          <p:cNvPr descr="Tolman, E.C. portrait.jpg" id="136" name="Google Shape;136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5655" l="0" r="0" t="15648"/>
          <a:stretch/>
        </p:blipFill>
        <p:spPr>
          <a:xfrm>
            <a:off x="3887391" y="987429"/>
            <a:ext cx="3588447" cy="37779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8"/>
          <p:cNvCxnSpPr/>
          <p:nvPr/>
        </p:nvCxnSpPr>
        <p:spPr>
          <a:xfrm>
            <a:off x="2014151" y="3150973"/>
            <a:ext cx="0" cy="1532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629841" y="457200"/>
            <a:ext cx="29493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ru-RU" sz="2800">
                <a:latin typeface="Arial Black"/>
                <a:ea typeface="Arial Black"/>
                <a:cs typeface="Arial Black"/>
                <a:sym typeface="Arial Black"/>
              </a:rPr>
              <a:t>Когнитивный бихевиоризм</a:t>
            </a:r>
            <a:br>
              <a:rPr lang="ru-RU" sz="2800">
                <a:latin typeface="Arial Black"/>
                <a:ea typeface="Arial Black"/>
                <a:cs typeface="Arial Black"/>
                <a:sym typeface="Arial Black"/>
              </a:rPr>
            </a:br>
            <a:endParaRPr sz="2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629841" y="1841157"/>
            <a:ext cx="29493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Эдвард Чейс Толмен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Стимул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Познавательная деятельность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Реакция</a:t>
            </a:r>
            <a:endParaRPr/>
          </a:p>
        </p:txBody>
      </p:sp>
      <p:pic>
        <p:nvPicPr>
          <p:cNvPr descr="Tolman, E.C. portrait.jpg" id="144" name="Google Shape;144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5655" l="0" r="0" t="15648"/>
          <a:stretch/>
        </p:blipFill>
        <p:spPr>
          <a:xfrm>
            <a:off x="3887391" y="987429"/>
            <a:ext cx="3588447" cy="37779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9"/>
          <p:cNvCxnSpPr/>
          <p:nvPr/>
        </p:nvCxnSpPr>
        <p:spPr>
          <a:xfrm>
            <a:off x="2014151" y="3150973"/>
            <a:ext cx="0" cy="679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6" name="Google Shape;146;p9"/>
          <p:cNvCxnSpPr/>
          <p:nvPr/>
        </p:nvCxnSpPr>
        <p:spPr>
          <a:xfrm>
            <a:off x="2055338" y="4312508"/>
            <a:ext cx="0" cy="1235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/>
              <a:t>Недостатки бихевиоризма</a:t>
            </a:r>
            <a:endParaRPr/>
          </a:p>
        </p:txBody>
      </p:sp>
      <p:cxnSp>
        <p:nvCxnSpPr>
          <p:cNvPr id="152" name="Google Shape;152;p10"/>
          <p:cNvCxnSpPr/>
          <p:nvPr/>
        </p:nvCxnSpPr>
        <p:spPr>
          <a:xfrm flipH="1">
            <a:off x="1420939" y="1025611"/>
            <a:ext cx="1940100" cy="236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3" name="Google Shape;153;p10"/>
          <p:cNvSpPr/>
          <p:nvPr/>
        </p:nvSpPr>
        <p:spPr>
          <a:xfrm>
            <a:off x="197706" y="3385751"/>
            <a:ext cx="2656800" cy="106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Недоучет сложности психической деятельности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4398" y="1313378"/>
            <a:ext cx="28479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Скачать обои &quot;Собаки&quot; на телефон в высоком качестве, вертикальные картинки &quot; Собаки&quot; бесплатно"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637" y="4787513"/>
            <a:ext cx="2466975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Дети едва не пострадали от ротвейлера, гулявшего без намордника и поводка -  Выкса в курсе" id="156" name="Google Shape;156;p1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Дети едва не пострадали от ротвейлера, гулявшего без намордника и поводка -  Выкса в курсе" id="157" name="Google Shape;157;p10"/>
          <p:cNvSpPr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Основные правила выгула ротвейлера - Статьи про собак" id="158" name="Google Shape;158;p10"/>
          <p:cNvSpPr/>
          <p:nvPr/>
        </p:nvSpPr>
        <p:spPr>
          <a:xfrm>
            <a:off x="460375" y="160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Основные правила выгула ротвейлера - Статьи про собак" id="159" name="Google Shape;159;p10"/>
          <p:cNvSpPr/>
          <p:nvPr/>
        </p:nvSpPr>
        <p:spPr>
          <a:xfrm>
            <a:off x="612775" y="3127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Основные правила выгула ротвейлера - Статьи про собак" id="160" name="Google Shape;160;p10"/>
          <p:cNvSpPr/>
          <p:nvPr/>
        </p:nvSpPr>
        <p:spPr>
          <a:xfrm>
            <a:off x="765175" y="465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Дети едва не пострадали от ротвейлера, гулявшего без намордника и поводка -  Выкса в курсе" id="161" name="Google Shape;16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2306" y="3472248"/>
            <a:ext cx="3612588" cy="2409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/>
              <a:t>Недостатки бихевиоризма</a:t>
            </a:r>
            <a:endParaRPr/>
          </a:p>
        </p:txBody>
      </p:sp>
      <p:cxnSp>
        <p:nvCxnSpPr>
          <p:cNvPr id="167" name="Google Shape;167;p11"/>
          <p:cNvCxnSpPr/>
          <p:nvPr/>
        </p:nvCxnSpPr>
        <p:spPr>
          <a:xfrm flipH="1">
            <a:off x="3361168" y="1025611"/>
            <a:ext cx="420000" cy="3896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8" name="Google Shape;168;p11"/>
          <p:cNvSpPr/>
          <p:nvPr/>
        </p:nvSpPr>
        <p:spPr>
          <a:xfrm>
            <a:off x="2154192" y="4922108"/>
            <a:ext cx="2656800" cy="106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Излишнее сближение психики животных и человека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3132" y="1215167"/>
            <a:ext cx="3947100" cy="27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/>
          <p:nvPr/>
        </p:nvSpPr>
        <p:spPr>
          <a:xfrm>
            <a:off x="1683836" y="6470818"/>
            <a:ext cx="288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Негуманные эксперименты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/>
              <a:t>Недостатки бихевиоризма</a:t>
            </a:r>
            <a:endParaRPr/>
          </a:p>
        </p:txBody>
      </p:sp>
      <p:cxnSp>
        <p:nvCxnSpPr>
          <p:cNvPr id="176" name="Google Shape;176;p12"/>
          <p:cNvCxnSpPr/>
          <p:nvPr/>
        </p:nvCxnSpPr>
        <p:spPr>
          <a:xfrm>
            <a:off x="5498757" y="877330"/>
            <a:ext cx="422100" cy="412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77" name="Google Shape;177;p12"/>
          <p:cNvSpPr/>
          <p:nvPr/>
        </p:nvSpPr>
        <p:spPr>
          <a:xfrm>
            <a:off x="4592593" y="5004487"/>
            <a:ext cx="2656800" cy="106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Игнорирование процессов сознания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7318" y="1287463"/>
            <a:ext cx="3992100" cy="2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/>
              <a:t>Недостатки бихевиоризма</a:t>
            </a:r>
            <a:endParaRPr/>
          </a:p>
        </p:txBody>
      </p:sp>
      <p:sp>
        <p:nvSpPr>
          <p:cNvPr id="184" name="Google Shape;184;p13"/>
          <p:cNvSpPr txBox="1"/>
          <p:nvPr>
            <p:ph idx="1" type="body"/>
          </p:nvPr>
        </p:nvSpPr>
        <p:spPr>
          <a:xfrm>
            <a:off x="637059" y="1230566"/>
            <a:ext cx="7869900" cy="53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cxnSp>
        <p:nvCxnSpPr>
          <p:cNvPr id="185" name="Google Shape;185;p13"/>
          <p:cNvCxnSpPr/>
          <p:nvPr/>
        </p:nvCxnSpPr>
        <p:spPr>
          <a:xfrm flipH="1">
            <a:off x="1420939" y="1025611"/>
            <a:ext cx="1940100" cy="236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6" name="Google Shape;186;p13"/>
          <p:cNvCxnSpPr/>
          <p:nvPr/>
        </p:nvCxnSpPr>
        <p:spPr>
          <a:xfrm flipH="1">
            <a:off x="3361168" y="1025611"/>
            <a:ext cx="420000" cy="3896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7" name="Google Shape;187;p13"/>
          <p:cNvCxnSpPr/>
          <p:nvPr/>
        </p:nvCxnSpPr>
        <p:spPr>
          <a:xfrm>
            <a:off x="4582298" y="889686"/>
            <a:ext cx="803100" cy="260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8" name="Google Shape;188;p13"/>
          <p:cNvCxnSpPr/>
          <p:nvPr/>
        </p:nvCxnSpPr>
        <p:spPr>
          <a:xfrm>
            <a:off x="5474044" y="889686"/>
            <a:ext cx="1359300" cy="1301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89" name="Google Shape;189;p13"/>
          <p:cNvSpPr/>
          <p:nvPr/>
        </p:nvSpPr>
        <p:spPr>
          <a:xfrm>
            <a:off x="197706" y="3385751"/>
            <a:ext cx="2656800" cy="106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Недоучет сложности психической деятельности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2154192" y="4922108"/>
            <a:ext cx="2656800" cy="106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Излишнее сближение психики животных и человека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057133" y="3496962"/>
            <a:ext cx="2656800" cy="106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Игнорирование процессов сознания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898289" y="2191264"/>
            <a:ext cx="2656800" cy="106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Игнорирование  творчества, самоопределения личности и  т.п.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Когнитивная психология [Солсо, 2006]</a:t>
            </a:r>
            <a:endParaRPr/>
          </a:p>
        </p:txBody>
      </p:sp>
      <p:sp>
        <p:nvSpPr>
          <p:cNvPr id="198" name="Google Shape;198;p14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изучает то, как люди получают информацию о мире, как эта информация представляется человеком, как она хранится в памяти и преобразуется в знания и как эти знания влияют на поведение и внимание.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ru-RU"/>
              <a:t>Когнитивная психология</a:t>
            </a:r>
            <a:endParaRPr/>
          </a:p>
        </p:txBody>
      </p:sp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понимается как психология, ориентированная на изучение познавательных (когнитивных) процессов психики человека и животных; подводит итоги и оценивает такие процессы, как внимание, память, восприятие, мышление, воображение, речь – то есть всё, что связано с приобретением, структурированием использования и использованием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информации.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Отличия когнитивной психологии </a:t>
            </a:r>
            <a:br>
              <a:rPr lang="ru-RU"/>
            </a:br>
            <a:r>
              <a:rPr lang="ru-RU"/>
              <a:t>от бихевиоризма</a:t>
            </a:r>
            <a:endParaRPr/>
          </a:p>
        </p:txBody>
      </p:sp>
      <p:sp>
        <p:nvSpPr>
          <p:cNvPr id="210" name="Google Shape;210;p16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1) когнитивная  психология  обращает  внимание, прежде всего, на сам процесс познания, а не только на реакцию организма на определенный стимул;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2) когнитивную  психологию  интересуют  те  способы и формы, в которых сознание человека организует имеющийся опыт;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3) с точки зрения когнитивной психологии, индивид усваивает стимулы из окружающей среды в ходе некоторых активных и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творческих  процессов.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Предметом  когнитивной  психологии  считается  совокупность познавательных (ментальных)  процессов.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/>
              <a:t>Цель когнитивной психологии</a:t>
            </a:r>
            <a:endParaRPr/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563384" y="126760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выявление закономерностей организации и функционирования процессов познания человеком значимых стимулов среды.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/>
              <a:t>Задачи  когнитивной  психологии: </a:t>
            </a:r>
            <a:endParaRPr/>
          </a:p>
        </p:txBody>
      </p:sp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637059" y="1271079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arenR"/>
            </a:pPr>
            <a:r>
              <a:rPr lang="ru-RU"/>
              <a:t>изучение  преобразований сенсорной информации от момента попадания стимула на рецепторы до получения ответа;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arenR"/>
            </a:pPr>
            <a:r>
              <a:rPr lang="ru-RU"/>
              <a:t>доказательство решающей роли знания в поведении человека.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Основные направления исследований в когнитивной психологии </a:t>
            </a:r>
            <a:r>
              <a:rPr lang="ru-RU" sz="2200"/>
              <a:t>[Солсо, 2006]</a:t>
            </a:r>
            <a:endParaRPr/>
          </a:p>
        </p:txBody>
      </p:sp>
      <p:sp>
        <p:nvSpPr>
          <p:cNvPr id="234" name="Google Shape;234;p20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когнитивная нейронаука;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восприятие;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распознавание  паттернов;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внимание;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сознание;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память;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репрезентация знаний;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воображение;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язык;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психология  развития;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мышление и формирование понятий;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человеческий и искусственный интеллект.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Недостатки когнитивной психологии</a:t>
            </a:r>
            <a:endParaRPr/>
          </a:p>
        </p:txBody>
      </p:sp>
      <p:sp>
        <p:nvSpPr>
          <p:cNvPr id="240" name="Google Shape;240;p21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Когнитивисты, говоря о познании, абстрагируются обычно от эмоций, намерений, потребностей, т. е. от того, ради чего человек познает и действует.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 большинстве моделей процесс переработки  информации  осуществляется «автоматически», без учета активности студента.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В моделях часто не учитывается прогнозирование и активный поиск информации.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Лабораторные ситуации исследований в когнитивной психологии чрезвычайно искусственны, они почти никогда не встречаются в жизни, в повседневной деятельности.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Использование компьютерной метафоры при объяснении работы процессов памяти и других психических процессов.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dd4c7ca61_0_0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ru-RU"/>
              <a:t>Задание  - можно делать в группе 2-5 человек</a:t>
            </a:r>
            <a:endParaRPr/>
          </a:p>
        </p:txBody>
      </p:sp>
      <p:sp>
        <p:nvSpPr>
          <p:cNvPr id="246" name="Google Shape;246;g37dd4c7ca61_0_0"/>
          <p:cNvSpPr txBox="1"/>
          <p:nvPr>
            <p:ph idx="1" type="body"/>
          </p:nvPr>
        </p:nvSpPr>
        <p:spPr>
          <a:xfrm>
            <a:off x="914400" y="1447800"/>
            <a:ext cx="7772400" cy="5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96608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54641"/>
              <a:buAutoNum type="arabicPeriod"/>
            </a:pPr>
            <a:r>
              <a:rPr lang="ru-RU"/>
              <a:t>Сформулируйте определения чувст и эмоций.</a:t>
            </a:r>
            <a:endParaRPr/>
          </a:p>
          <a:p>
            <a:pPr indent="-29660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641"/>
              <a:buAutoNum type="arabicPeriod"/>
            </a:pPr>
            <a:r>
              <a:rPr lang="ru-RU"/>
              <a:t>Составьте интеллект-карту по следующему заданию.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70506"/>
              <a:buNone/>
            </a:pPr>
            <a:r>
              <a:t/>
            </a:r>
            <a:endParaRPr/>
          </a:p>
          <a:p>
            <a:pPr indent="-296608" lvl="0" marL="4572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54641"/>
              <a:buAutoNum type="arabicPeriod"/>
            </a:pPr>
            <a:r>
              <a:rPr lang="ru-RU"/>
              <a:t>Приведите не менее 5 чувств и для каждого из них заполните таблицу (следующий слайд)		</a:t>
            </a:r>
            <a:endParaRPr/>
          </a:p>
        </p:txBody>
      </p:sp>
      <p:pic>
        <p:nvPicPr>
          <p:cNvPr id="247" name="Google Shape;247;g37dd4c7ca6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274" y="2050950"/>
            <a:ext cx="7470176" cy="37429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7dd4c7ca61_0_0"/>
          <p:cNvSpPr txBox="1"/>
          <p:nvPr/>
        </p:nvSpPr>
        <p:spPr>
          <a:xfrm>
            <a:off x="1326150" y="3187025"/>
            <a:ext cx="521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49" name="Google Shape;249;g37dd4c7ca61_0_0"/>
          <p:cNvSpPr txBox="1"/>
          <p:nvPr/>
        </p:nvSpPr>
        <p:spPr>
          <a:xfrm>
            <a:off x="2943575" y="2264600"/>
            <a:ext cx="321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0" name="Google Shape;250;g37dd4c7ca61_0_0"/>
          <p:cNvSpPr txBox="1"/>
          <p:nvPr/>
        </p:nvSpPr>
        <p:spPr>
          <a:xfrm>
            <a:off x="3879575" y="3026600"/>
            <a:ext cx="521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51" name="Google Shape;251;g37dd4c7ca61_0_0"/>
          <p:cNvSpPr txBox="1"/>
          <p:nvPr/>
        </p:nvSpPr>
        <p:spPr>
          <a:xfrm>
            <a:off x="5910100" y="2786000"/>
            <a:ext cx="3876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dd4c7ca61_0_10"/>
          <p:cNvSpPr txBox="1"/>
          <p:nvPr>
            <p:ph type="title"/>
          </p:nvPr>
        </p:nvSpPr>
        <p:spPr>
          <a:xfrm>
            <a:off x="628651" y="163208"/>
            <a:ext cx="78867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7" name="Google Shape;257;g37dd4c7ca61_0_10"/>
          <p:cNvSpPr txBox="1"/>
          <p:nvPr>
            <p:ph idx="1" type="body"/>
          </p:nvPr>
        </p:nvSpPr>
        <p:spPr>
          <a:xfrm>
            <a:off x="645459" y="1287254"/>
            <a:ext cx="7869900" cy="4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graphicFrame>
        <p:nvGraphicFramePr>
          <p:cNvPr id="258" name="Google Shape;258;g37dd4c7ca61_0_10"/>
          <p:cNvGraphicFramePr/>
          <p:nvPr/>
        </p:nvGraphicFramePr>
        <p:xfrm>
          <a:off x="9525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{AE6AAF8D-3F02-4B47-A822-79BDF9238FF7}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Название чувства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Для чего оно нужно человеку?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Эмоции, которые связаны с этим чувством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2016-11-18T14:12:19Z</dcterms:created>
  <dc:creator>Markasian, Pavel (KIEVH)</dc:creator>
</cp:coreProperties>
</file>