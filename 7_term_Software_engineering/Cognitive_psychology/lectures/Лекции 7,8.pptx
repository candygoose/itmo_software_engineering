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6858000" cx="9144000"/>
  <p:notesSz cx="6858000" cy="9144000"/>
  <p:embeddedFontLst>
    <p:embeddedFont>
      <p:font typeface="Libre Franklin"/>
      <p:regular r:id="rId76"/>
      <p:bold r:id="rId77"/>
      <p:italic r:id="rId78"/>
      <p:boldItalic r:id="rId79"/>
    </p:embeddedFont>
    <p:embeddedFont>
      <p:font typeface="Libre Baskerville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4" roundtripDataSignature="AMtx7mgDc3C7lXs7uvknEU3QDj4Xaeqa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customschemas.google.com/relationships/presentationmetadata" Target="metadata"/><Relationship Id="rId83" Type="http://schemas.openxmlformats.org/officeDocument/2006/relationships/font" Target="fonts/LibreBaskerville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LibreBaskerville-regular.fntdata"/><Relationship Id="rId82" Type="http://schemas.openxmlformats.org/officeDocument/2006/relationships/font" Target="fonts/LibreBaskerville-italic.fntdata"/><Relationship Id="rId81" Type="http://schemas.openxmlformats.org/officeDocument/2006/relationships/font" Target="fonts/LibreBaskervill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LibreFranklin-bold.fntdata"/><Relationship Id="rId32" Type="http://schemas.openxmlformats.org/officeDocument/2006/relationships/slide" Target="slides/slide26.xml"/><Relationship Id="rId76" Type="http://schemas.openxmlformats.org/officeDocument/2006/relationships/font" Target="fonts/LibreFranklin-regular.fntdata"/><Relationship Id="rId35" Type="http://schemas.openxmlformats.org/officeDocument/2006/relationships/slide" Target="slides/slide29.xml"/><Relationship Id="rId79" Type="http://schemas.openxmlformats.org/officeDocument/2006/relationships/font" Target="fonts/LibreFranklin-boldItalic.fntdata"/><Relationship Id="rId34" Type="http://schemas.openxmlformats.org/officeDocument/2006/relationships/slide" Target="slides/slide28.xml"/><Relationship Id="rId78" Type="http://schemas.openxmlformats.org/officeDocument/2006/relationships/font" Target="fonts/LibreFranklin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4" name="Google Shape;414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0" name="Google Shape;420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ed6e1159d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1ed6e1159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7" name="Google Shape;45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ed6e1159d7_0_4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1ed6e1159d7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ed6e1159d7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g1ed6e1159d7_0_2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ed6e1159d7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2" name="Google Shape;482;g1ed6e1159d7_0_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ed6e1159d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7" name="Google Shape;487;g1ed6e1159d7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ed6e1159d7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g1ed6e1159d7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ed6e1159d7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1" name="Google Shape;501;g1ed6e1159d7_0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ed6e1159d7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7" name="Google Shape;507;g1ed6e1159d7_0_2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ed6e1159d7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3" name="Google Shape;513;g1ed6e1159d7_0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ed6e1159d7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9" name="Google Shape;519;g1ed6e1159d7_0_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ed6e1159d7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5" name="Google Shape;525;g1ed6e1159d7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1ed6e1159d7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1" name="Google Shape;531;g1ed6e1159d7_0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ed6e1159d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g1ed6e1159d7_0_3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ed6e1159d7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6" name="Google Shape;546;g1ed6e1159d7_0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1ed6e1159d7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2" name="Google Shape;552;g1ed6e1159d7_0_3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ed6e1159d7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8" name="Google Shape;558;g1ed6e1159d7_0_3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1ed6e1159d7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5" name="Google Shape;565;g1ed6e1159d7_0_3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ed6e1159d7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1" name="Google Shape;571;g1ed6e1159d7_0_3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ed6e1159d7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g1ed6e1159d7_0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ed6e1159d7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3" name="Google Shape;583;g1ed6e1159d7_0_3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ed6e1159d7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9" name="Google Shape;589;g1ed6e1159d7_0_3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ed6e1159d7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5" name="Google Shape;595;g1ed6e1159d7_0_3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ed6e1159d7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3" name="Google Shape;603;g1ed6e1159d7_0_3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ed6e1159d7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9" name="Google Shape;609;g1ed6e1159d7_0_3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1ed6e1159d7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5" name="Google Shape;615;g1ed6e1159d7_0_3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ed6e1159d7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1" name="Google Shape;621;g1ed6e1159d7_0_3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1ed6e1159d7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7" name="Google Shape;627;g1ed6e1159d7_0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ed6e1159d7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3" name="Google Shape;633;g1ed6e1159d7_0_3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ed6e1159d7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9" name="Google Shape;639;g1ed6e1159d7_0_3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ed6e1159d7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5" name="Google Shape;645;g1ed6e1159d7_0_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" name="Google Shape;15;p45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" name="Google Shape;16;p45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4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" name="Google Shape;20;p45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1" name="Google Shape;21;p45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2" name="Google Shape;22;p45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" name="Google Shape;23;p45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p4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" name="Google Shape;35;p47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7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9" name="Google Shape;39;p48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0" name="Google Shape;40;p48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8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8"/>
          <p:cNvSpPr/>
          <p:nvPr/>
        </p:nvSpPr>
        <p:spPr>
          <a:xfrm flipH="1" rot="10800000">
            <a:off x="69412" y="2376830"/>
            <a:ext cx="901351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5" name="Google Shape;45;p48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6" name="Google Shape;46;p4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7" name="Google Shape;47;p48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9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9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9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5" name="Google Shape;55;p49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8" name="Google Shape;68;p52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9" name="Google Shape;69;p52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4" name="Google Shape;74;p52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3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7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2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3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3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1" name="Google Shape;81;p53"/>
          <p:cNvSpPr/>
          <p:nvPr/>
        </p:nvSpPr>
        <p:spPr>
          <a:xfrm flipH="1" rot="10800000">
            <a:off x="68307" y="4683555"/>
            <a:ext cx="900684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2" name="Google Shape;82;p53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3" name="Google Shape;83;p53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4" name="Google Shape;84;p53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4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5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5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5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5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d6e1159d7_0_42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1ed6e1159d7_0_423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1ed6e1159d7_0_42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1ed6e1159d7_0_42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0" name="Google Shape;110;g1ed6e1159d7_0_42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bg>
      <p:bgPr>
        <a:blipFill rotWithShape="1">
          <a:blip r:embed="rId2">
            <a:alphaModFix/>
          </a:blip>
          <a:tile algn="tl" flip="none" tx="0" sx="54997" ty="0" sy="54997"/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ed6e1159d7_0_4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3" name="Google Shape;113;g1ed6e1159d7_0_412"/>
          <p:cNvSpPr/>
          <p:nvPr/>
        </p:nvSpPr>
        <p:spPr>
          <a:xfrm>
            <a:off x="65313" y="69755"/>
            <a:ext cx="9013500" cy="6692100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4997" ty="0" sy="54997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4" name="Google Shape;114;g1ed6e1159d7_0_412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5" name="Google Shape;115;g1ed6e1159d7_0_412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1ed6e1159d7_0_41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1ed6e1159d7_0_41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8" name="Google Shape;118;g1ed6e1159d7_0_412"/>
          <p:cNvSpPr/>
          <p:nvPr/>
        </p:nvSpPr>
        <p:spPr>
          <a:xfrm>
            <a:off x="62931" y="1449303"/>
            <a:ext cx="9021600" cy="152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9" name="Google Shape;119;g1ed6e1159d7_0_412"/>
          <p:cNvSpPr/>
          <p:nvPr/>
        </p:nvSpPr>
        <p:spPr>
          <a:xfrm>
            <a:off x="62931" y="1396720"/>
            <a:ext cx="9021600" cy="12060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0" name="Google Shape;120;g1ed6e1159d7_0_412"/>
          <p:cNvSpPr/>
          <p:nvPr/>
        </p:nvSpPr>
        <p:spPr>
          <a:xfrm>
            <a:off x="62931" y="2976649"/>
            <a:ext cx="9021600" cy="1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1" name="Google Shape;121;g1ed6e1159d7_0_412"/>
          <p:cNvSpPr txBox="1"/>
          <p:nvPr>
            <p:ph type="ctrTitle"/>
          </p:nvPr>
        </p:nvSpPr>
        <p:spPr>
          <a:xfrm>
            <a:off x="457200" y="1505930"/>
            <a:ext cx="8229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showMasterSp="0" type="secHead">
  <p:cSld name="SECTION_HEADER">
    <p:bg>
      <p:bgPr>
        <a:blipFill rotWithShape="1">
          <a:blip r:embed="rId2">
            <a:alphaModFix/>
          </a:blip>
          <a:tile algn="tl" flip="none" tx="0" sx="54997" ty="0" sy="54997"/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d6e1159d7_0_42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4" name="Google Shape;124;g1ed6e1159d7_0_429"/>
          <p:cNvSpPr/>
          <p:nvPr/>
        </p:nvSpPr>
        <p:spPr>
          <a:xfrm>
            <a:off x="65313" y="69755"/>
            <a:ext cx="9013500" cy="6692100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4997" ty="0" sy="54997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5" name="Google Shape;125;g1ed6e1159d7_0_429"/>
          <p:cNvSpPr txBox="1"/>
          <p:nvPr>
            <p:ph type="title"/>
          </p:nvPr>
        </p:nvSpPr>
        <p:spPr>
          <a:xfrm>
            <a:off x="722313" y="9525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1ed6e1159d7_0_429"/>
          <p:cNvSpPr txBox="1"/>
          <p:nvPr>
            <p:ph idx="1" type="body"/>
          </p:nvPr>
        </p:nvSpPr>
        <p:spPr>
          <a:xfrm>
            <a:off x="722313" y="2547938"/>
            <a:ext cx="7772400" cy="13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g1ed6e1159d7_0_429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1ed6e1159d7_0_429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1ed6e1159d7_0_429"/>
          <p:cNvSpPr/>
          <p:nvPr/>
        </p:nvSpPr>
        <p:spPr>
          <a:xfrm flipH="1" rot="10800000">
            <a:off x="69412" y="2376770"/>
            <a:ext cx="90135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0" name="Google Shape;130;g1ed6e1159d7_0_429"/>
          <p:cNvSpPr/>
          <p:nvPr/>
        </p:nvSpPr>
        <p:spPr>
          <a:xfrm>
            <a:off x="69146" y="2341475"/>
            <a:ext cx="9013800" cy="4560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1" name="Google Shape;131;g1ed6e1159d7_0_429"/>
          <p:cNvSpPr/>
          <p:nvPr/>
        </p:nvSpPr>
        <p:spPr>
          <a:xfrm>
            <a:off x="68306" y="2468880"/>
            <a:ext cx="9014700" cy="45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2" name="Google Shape;132;g1ed6e1159d7_0_429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ed6e1159d7_0_44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1ed6e1159d7_0_440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1ed6e1159d7_0_44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1ed6e1159d7_0_44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8" name="Google Shape;138;g1ed6e1159d7_0_440"/>
          <p:cNvSpPr txBox="1"/>
          <p:nvPr>
            <p:ph idx="1" type="body"/>
          </p:nvPr>
        </p:nvSpPr>
        <p:spPr>
          <a:xfrm>
            <a:off x="914400" y="1447800"/>
            <a:ext cx="3749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g1ed6e1159d7_0_440"/>
          <p:cNvSpPr txBox="1"/>
          <p:nvPr>
            <p:ph idx="2" type="body"/>
          </p:nvPr>
        </p:nvSpPr>
        <p:spPr>
          <a:xfrm>
            <a:off x="4933950" y="1447800"/>
            <a:ext cx="3749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d6e1159d7_0_447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1ed6e1159d7_0_447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g1ed6e1159d7_0_447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g1ed6e1159d7_0_447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1ed6e1159d7_0_44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1ed6e1159d7_0_44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7" name="Google Shape;147;g1ed6e1159d7_0_447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g1ed6e1159d7_0_447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d6e1159d7_0_45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1ed6e1159d7_0_456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1ed6e1159d7_0_45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1ed6e1159d7_0_45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ed6e1159d7_0_461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1ed6e1159d7_0_46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1ed6e1159d7_0_46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ed6e1159d7_0_46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0" name="Google Shape;160;g1ed6e1159d7_0_465"/>
          <p:cNvSpPr/>
          <p:nvPr/>
        </p:nvSpPr>
        <p:spPr>
          <a:xfrm>
            <a:off x="64008" y="69755"/>
            <a:ext cx="9013500" cy="66933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1" name="Google Shape;161;g1ed6e1159d7_0_465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1ed6e1159d7_0_465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g1ed6e1159d7_0_465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1ed6e1159d7_0_46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1ed6e1159d7_0_46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6" name="Google Shape;166;g1ed6e1159d7_0_465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ed6e1159d7_0_474"/>
          <p:cNvSpPr txBox="1"/>
          <p:nvPr>
            <p:ph type="title"/>
          </p:nvPr>
        </p:nvSpPr>
        <p:spPr>
          <a:xfrm>
            <a:off x="914400" y="4900550"/>
            <a:ext cx="73152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1ed6e1159d7_0_474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7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2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g1ed6e1159d7_0_474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1ed6e1159d7_0_474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g1ed6e1159d7_0_474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3" name="Google Shape;173;g1ed6e1159d7_0_474"/>
          <p:cNvSpPr/>
          <p:nvPr/>
        </p:nvSpPr>
        <p:spPr>
          <a:xfrm flipH="1" rot="10800000">
            <a:off x="68307" y="4683495"/>
            <a:ext cx="90069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4" name="Google Shape;174;g1ed6e1159d7_0_474"/>
          <p:cNvSpPr/>
          <p:nvPr/>
        </p:nvSpPr>
        <p:spPr>
          <a:xfrm>
            <a:off x="68508" y="4650474"/>
            <a:ext cx="9006600" cy="4560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5" name="Google Shape;175;g1ed6e1159d7_0_474"/>
          <p:cNvSpPr/>
          <p:nvPr/>
        </p:nvSpPr>
        <p:spPr>
          <a:xfrm>
            <a:off x="68510" y="4773224"/>
            <a:ext cx="9006600" cy="48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6" name="Google Shape;176;g1ed6e1159d7_0_474"/>
          <p:cNvSpPr/>
          <p:nvPr>
            <p:ph idx="2" type="pic"/>
          </p:nvPr>
        </p:nvSpPr>
        <p:spPr>
          <a:xfrm>
            <a:off x="68308" y="66675"/>
            <a:ext cx="9001800" cy="4581600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ed6e1159d7_0_48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g1ed6e1159d7_0_484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g1ed6e1159d7_0_484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1ed6e1159d7_0_48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g1ed6e1159d7_0_48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ed6e1159d7_0_490"/>
          <p:cNvSpPr txBox="1"/>
          <p:nvPr>
            <p:ph type="title"/>
          </p:nvPr>
        </p:nvSpPr>
        <p:spPr>
          <a:xfrm rot="5400000">
            <a:off x="4709430" y="2194491"/>
            <a:ext cx="58515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g1ed6e1159d7_0_490"/>
          <p:cNvSpPr txBox="1"/>
          <p:nvPr>
            <p:ph idx="1" type="body"/>
          </p:nvPr>
        </p:nvSpPr>
        <p:spPr>
          <a:xfrm rot="5400000">
            <a:off x="769950" y="419090"/>
            <a:ext cx="58515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4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g1ed6e1159d7_0_490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1ed6e1159d7_0_49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g1ed6e1159d7_0_49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" name="Google Shape;7;p44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" name="Google Shape;8;p4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935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" name="Google Shape;10;p4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" name="Google Shape;12;p4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ed6e1159d7_0_40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99" name="Google Shape;99;g1ed6e1159d7_0_404"/>
          <p:cNvSpPr/>
          <p:nvPr/>
        </p:nvSpPr>
        <p:spPr>
          <a:xfrm>
            <a:off x="64008" y="69755"/>
            <a:ext cx="9013500" cy="66933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0" name="Google Shape;100;g1ed6e1159d7_0_40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g1ed6e1159d7_0_40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935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2" name="Google Shape;102;g1ed6e1159d7_0_404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3" name="Google Shape;103;g1ed6e1159d7_0_40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4" name="Google Shape;104;g1ed6e1159d7_0_40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sp>
        <p:nvSpPr>
          <p:cNvPr id="194" name="Google Shape;194;p1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</a:pPr>
            <a:r>
              <a:rPr lang="ru-RU"/>
              <a:t>Мышление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00" name="Google Shape;200;p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60"/>
              <a:buNone/>
            </a:pPr>
            <a:r>
              <a:rPr lang="ru-RU" sz="3600"/>
              <a:t>Мышление и интеллект с давних пор считаются важнейшими и отличительными чертами человека. </a:t>
            </a:r>
            <a:endParaRPr/>
          </a:p>
        </p:txBody>
      </p:sp>
      <p:pic>
        <p:nvPicPr>
          <p:cNvPr id="201" name="Google Shape;2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934" y="3717032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07" name="Google Shape;207;p3"/>
          <p:cNvSpPr txBox="1"/>
          <p:nvPr>
            <p:ph idx="1" type="body"/>
          </p:nvPr>
        </p:nvSpPr>
        <p:spPr>
          <a:xfrm>
            <a:off x="179512" y="1447800"/>
            <a:ext cx="850728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3400"/>
              <a:buNone/>
            </a:pPr>
            <a:r>
              <a:rPr lang="ru-RU" sz="4000"/>
              <a:t>«homo sapiens» — человек разумный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Мышление – это </a:t>
            </a:r>
            <a:endParaRPr/>
          </a:p>
        </p:txBody>
      </p:sp>
      <p:sp>
        <p:nvSpPr>
          <p:cNvPr id="213" name="Google Shape;213;p4"/>
          <p:cNvSpPr txBox="1"/>
          <p:nvPr>
            <p:ph idx="1" type="body"/>
          </p:nvPr>
        </p:nvSpPr>
        <p:spPr>
          <a:xfrm>
            <a:off x="251520" y="1447800"/>
            <a:ext cx="84352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опосредованное... и обобщенное по-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знание объективной реальности (Рубинштейн)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t/>
            </a:r>
            <a:endParaRPr sz="2800"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Font typeface="Libre Baskerville"/>
              <a:buChar char="-"/>
            </a:pPr>
            <a:r>
              <a:rPr lang="ru-RU" sz="2800"/>
              <a:t>мышление это вид познания;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Font typeface="Libre Baskerville"/>
              <a:buChar char="-"/>
            </a:pPr>
            <a:r>
              <a:rPr lang="ru-RU" sz="2800"/>
              <a:t>но познание «опосредованное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и обобщенное».</a:t>
            </a:r>
            <a:endParaRPr/>
          </a:p>
        </p:txBody>
      </p:sp>
      <p:pic>
        <p:nvPicPr>
          <p:cNvPr descr="Рубинштейн, Сергей Леонидович.jpg" id="214" name="Google Shape;2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2612" y="3429000"/>
            <a:ext cx="1905000" cy="256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5"/>
          <p:cNvSpPr txBox="1"/>
          <p:nvPr>
            <p:ph type="title"/>
          </p:nvPr>
        </p:nvSpPr>
        <p:spPr>
          <a:xfrm>
            <a:off x="1011450" y="3047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Мышление - это</a:t>
            </a:r>
            <a:endParaRPr/>
          </a:p>
        </p:txBody>
      </p:sp>
      <p:sp>
        <p:nvSpPr>
          <p:cNvPr id="220" name="Google Shape;220;p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это внутренний процесс, при котором происходит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преобразование  информации  и  формируется  новая  мысленная  репрезентация.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</a:pPr>
            <a:r>
              <a:rPr b="1" lang="ru-RU" sz="2800"/>
              <a:t>МЕНТАЛЬНАЯ РЕПРЕЗЕНТАЦИЯ</a:t>
            </a:r>
            <a:r>
              <a:rPr lang="ru-RU" sz="2800"/>
              <a:t> (Е. С. Кубряковой)</a:t>
            </a:r>
            <a:endParaRPr sz="2800"/>
          </a:p>
        </p:txBody>
      </p:sp>
      <p:sp>
        <p:nvSpPr>
          <p:cNvPr id="226" name="Google Shape;226;p6"/>
          <p:cNvSpPr txBox="1"/>
          <p:nvPr>
            <p:ph idx="1" type="body"/>
          </p:nvPr>
        </p:nvSpPr>
        <p:spPr>
          <a:xfrm>
            <a:off x="539552" y="1447800"/>
            <a:ext cx="814724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 ключевое понятие когнитивной науки, относящееся как к процессу представления … мира в голове человека, так и к единице подобного представления, стоящей вместо чего-то в реальном или вымышленном мире и потому замещающей это что-то в мыслительных процессах.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Человеческий мозг использует для концептуализации мира приём, похожий на моделирование, а именно, создаёт упрощённую «копию» (модель) окружающего мира, чтобы обеспечить себе возможность его изучения.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Характеристики мышления</a:t>
            </a:r>
            <a:endParaRPr/>
          </a:p>
        </p:txBody>
      </p:sp>
      <p:sp>
        <p:nvSpPr>
          <p:cNvPr id="232" name="Google Shape;232;p7"/>
          <p:cNvSpPr txBox="1"/>
          <p:nvPr>
            <p:ph idx="1" type="body"/>
          </p:nvPr>
        </p:nvSpPr>
        <p:spPr>
          <a:xfrm>
            <a:off x="251520" y="1447800"/>
            <a:ext cx="871296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rPr lang="ru-RU" sz="2200"/>
              <a:t> мышление когнитивно		       	мышление – это 											                 процесс, при котором 		                         		                                           происходит некоторая    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rPr lang="ru-RU" sz="2200"/>
              <a:t>										манипуляция   знаниями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rPr lang="ru-RU" sz="2200"/>
              <a:t>			мышление направленно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/>
          </a:p>
        </p:txBody>
      </p:sp>
      <p:cxnSp>
        <p:nvCxnSpPr>
          <p:cNvPr id="233" name="Google Shape;233;p7"/>
          <p:cNvCxnSpPr/>
          <p:nvPr/>
        </p:nvCxnSpPr>
        <p:spPr>
          <a:xfrm flipH="1">
            <a:off x="1835696" y="1196752"/>
            <a:ext cx="1728192" cy="1728192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4" name="Google Shape;234;p7"/>
          <p:cNvCxnSpPr/>
          <p:nvPr/>
        </p:nvCxnSpPr>
        <p:spPr>
          <a:xfrm>
            <a:off x="5868144" y="1196752"/>
            <a:ext cx="1368152" cy="1656184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5" name="Google Shape;235;p7"/>
          <p:cNvCxnSpPr/>
          <p:nvPr/>
        </p:nvCxnSpPr>
        <p:spPr>
          <a:xfrm flipH="1">
            <a:off x="4716016" y="1196752"/>
            <a:ext cx="144016" cy="3312368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Могут ли животные мыслить?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(да 100%)</a:t>
            </a:r>
            <a:endParaRPr/>
          </a:p>
        </p:txBody>
      </p:sp>
      <p:pic>
        <p:nvPicPr>
          <p:cNvPr id="242" name="Google Shape;2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378" y="3066131"/>
            <a:ext cx="1498259" cy="1498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 txBox="1"/>
          <p:nvPr>
            <p:ph idx="1" type="body"/>
          </p:nvPr>
        </p:nvSpPr>
        <p:spPr>
          <a:xfrm>
            <a:off x="899592" y="1316065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Чем их мышление отличается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от мышления человека</a:t>
            </a:r>
            <a:endParaRPr/>
          </a:p>
        </p:txBody>
      </p:sp>
      <p:pic>
        <p:nvPicPr>
          <p:cNvPr id="249" name="Google Shape;2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982" y="2117715"/>
            <a:ext cx="1498259" cy="1498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Мышление у животных</a:t>
            </a:r>
            <a:endParaRPr/>
          </a:p>
        </p:txBody>
      </p:sp>
      <p:sp>
        <p:nvSpPr>
          <p:cNvPr id="255" name="Google Shape;255;p1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У них мышление протекает не в речевом плане, а в плане реальных действий с внешними предметами.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В. Келлер называл его </a:t>
            </a:r>
            <a:r>
              <a:rPr lang="ru-RU">
                <a:solidFill>
                  <a:srgbClr val="FF0000"/>
                </a:solidFill>
              </a:rPr>
              <a:t>«ручной интеллект».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В отечественной психологии прижился термин </a:t>
            </a:r>
            <a:r>
              <a:rPr lang="ru-RU">
                <a:solidFill>
                  <a:srgbClr val="FF0000"/>
                </a:solidFill>
              </a:rPr>
              <a:t>«наглядно-действенное мышление». 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Ж. Пиаже использовал понятие </a:t>
            </a:r>
            <a:r>
              <a:rPr lang="ru-RU">
                <a:solidFill>
                  <a:srgbClr val="FF0000"/>
                </a:solidFill>
              </a:rPr>
              <a:t>«сенсо-моторный интеллект».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При изучении мышления в когнитивной психологии основное внимание уделяется проблемам: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Char char="▪"/>
            </a:pPr>
            <a:r>
              <a:rPr lang="ru-RU"/>
              <a:t>формирования понятий,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Char char="▪"/>
            </a:pPr>
            <a:r>
              <a:rPr lang="ru-RU"/>
              <a:t>логики,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Char char="▪"/>
            </a:pPr>
            <a:r>
              <a:rPr lang="ru-RU"/>
              <a:t>принятия решений;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Noto Sans Symbols"/>
              <a:buChar char="▪"/>
            </a:pPr>
            <a:r>
              <a:rPr lang="ru-RU"/>
              <a:t>решения задач.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Формирование  понятий</a:t>
            </a:r>
            <a:endParaRPr/>
          </a:p>
        </p:txBody>
      </p:sp>
      <p:sp>
        <p:nvSpPr>
          <p:cNvPr id="267" name="Google Shape;267;p1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 относится  к умению выяснять свойства, присущие некоторому классу объектов  или идей.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Понятие – это совокупность определенных существенных признаков и правил, связывающих эти признаки.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В формировании понятий участвуют</a:t>
            </a:r>
            <a:endParaRPr/>
          </a:p>
        </p:txBody>
      </p:sp>
      <p:sp>
        <p:nvSpPr>
          <p:cNvPr id="273" name="Google Shape;273;p13"/>
          <p:cNvSpPr txBox="1"/>
          <p:nvPr>
            <p:ph idx="1" type="body"/>
          </p:nvPr>
        </p:nvSpPr>
        <p:spPr>
          <a:xfrm>
            <a:off x="251520" y="1447800"/>
            <a:ext cx="856895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rPr lang="ru-RU" sz="2200"/>
              <a:t>размерные( количественные)   атрибутивные(качественные)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rPr lang="ru-RU" sz="2200"/>
              <a:t>                 признаки 				признаки</a:t>
            </a:r>
            <a:endParaRPr sz="2200"/>
          </a:p>
        </p:txBody>
      </p:sp>
      <p:cxnSp>
        <p:nvCxnSpPr>
          <p:cNvPr id="274" name="Google Shape;274;p13"/>
          <p:cNvCxnSpPr/>
          <p:nvPr/>
        </p:nvCxnSpPr>
        <p:spPr>
          <a:xfrm flipH="1">
            <a:off x="1835696" y="1196752"/>
            <a:ext cx="1728192" cy="1728192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5" name="Google Shape;275;p13"/>
          <p:cNvCxnSpPr/>
          <p:nvPr/>
        </p:nvCxnSpPr>
        <p:spPr>
          <a:xfrm>
            <a:off x="5868144" y="1196752"/>
            <a:ext cx="1368152" cy="1656184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ru-RU" sz="3100"/>
              <a:t>Для формирования понятий важна следующая когнитивная деятельность:</a:t>
            </a:r>
            <a:endParaRPr sz="3100"/>
          </a:p>
        </p:txBody>
      </p:sp>
      <p:sp>
        <p:nvSpPr>
          <p:cNvPr id="281" name="Google Shape;281;p1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усвоение правил;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ассоциирование;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проверка гипотез.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Формирование понятий включает:</a:t>
            </a:r>
            <a:endParaRPr/>
          </a:p>
        </p:txBody>
      </p:sp>
      <p:sp>
        <p:nvSpPr>
          <p:cNvPr id="287" name="Google Shape;287;p1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выделение признаков, общих для некоторого класса объектов,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раскрытие правил, связывающих эти концептуальные признаки. 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Концептуальное правило – это утверждение о том, как должны быть связаны данные признаки, чтобы нечто, обладающее ими, можно было считать примером определенного понятия.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Ассоциирование</a:t>
            </a:r>
            <a:endParaRPr/>
          </a:p>
        </p:txBody>
      </p:sp>
      <p:sp>
        <p:nvSpPr>
          <p:cNvPr id="293" name="Google Shape;293;p1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2004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ru-RU"/>
              <a:t>совместно предъявляются события</a:t>
            </a:r>
            <a:endParaRPr/>
          </a:p>
          <a:p>
            <a:pPr indent="0" lvl="1" marL="320040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0" lvl="1" marL="320040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rPr lang="ru-RU"/>
              <a:t>повторные  предъявления совместных событий </a:t>
            </a:r>
            <a:endParaRPr/>
          </a:p>
          <a:p>
            <a:pPr indent="0" lvl="1" marL="320040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0" lvl="1" marL="320040" rtl="0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rPr lang="ru-RU"/>
              <a:t>между совместными событиями образуется связь</a:t>
            </a:r>
            <a:endParaRPr/>
          </a:p>
          <a:p>
            <a:pPr indent="0" lvl="1" marL="3200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0" lvl="1" marL="32004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rPr lang="ru-RU"/>
              <a:t>! Наличие подкреплений способствует становлению связи и укрепляет ее .</a:t>
            </a:r>
            <a:endParaRPr/>
          </a:p>
        </p:txBody>
      </p:sp>
      <p:cxnSp>
        <p:nvCxnSpPr>
          <p:cNvPr id="294" name="Google Shape;294;p16"/>
          <p:cNvCxnSpPr/>
          <p:nvPr/>
        </p:nvCxnSpPr>
        <p:spPr>
          <a:xfrm>
            <a:off x="4788024" y="1844824"/>
            <a:ext cx="0" cy="540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algn="t" dir="5400000" dist="25400">
              <a:srgbClr val="000000">
                <a:alpha val="48627"/>
              </a:srgbClr>
            </a:outerShdw>
          </a:effectLst>
        </p:spPr>
      </p:cxnSp>
      <p:cxnSp>
        <p:nvCxnSpPr>
          <p:cNvPr id="295" name="Google Shape;295;p16"/>
          <p:cNvCxnSpPr/>
          <p:nvPr/>
        </p:nvCxnSpPr>
        <p:spPr>
          <a:xfrm>
            <a:off x="4788024" y="2708920"/>
            <a:ext cx="0" cy="540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algn="t" dir="5400000" dist="25400">
              <a:srgbClr val="000000">
                <a:alpha val="48627"/>
              </a:srgbClr>
            </a:outerShdw>
          </a:effectLst>
        </p:spPr>
      </p:cxnSp>
      <p:pic>
        <p:nvPicPr>
          <p:cNvPr id="296" name="Google Shape;2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6216" y="4432788"/>
            <a:ext cx="1856707" cy="2154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У стимула есть признаки 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существенные                               несущественные</a:t>
            </a:r>
            <a:endParaRPr/>
          </a:p>
        </p:txBody>
      </p:sp>
      <p:cxnSp>
        <p:nvCxnSpPr>
          <p:cNvPr id="303" name="Google Shape;303;p17"/>
          <p:cNvCxnSpPr/>
          <p:nvPr/>
        </p:nvCxnSpPr>
        <p:spPr>
          <a:xfrm flipH="1">
            <a:off x="2771800" y="1268760"/>
            <a:ext cx="1440160" cy="288032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algn="t" dir="5400000" dist="25400">
              <a:srgbClr val="000000">
                <a:alpha val="48627"/>
              </a:srgbClr>
            </a:outerShdw>
          </a:effectLst>
        </p:spPr>
      </p:cxnSp>
      <p:cxnSp>
        <p:nvCxnSpPr>
          <p:cNvPr id="304" name="Google Shape;304;p17"/>
          <p:cNvCxnSpPr/>
          <p:nvPr/>
        </p:nvCxnSpPr>
        <p:spPr>
          <a:xfrm>
            <a:off x="4788024" y="1268760"/>
            <a:ext cx="1368152" cy="288032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algn="t" dir="5400000" dist="25400">
              <a:srgbClr val="000000">
                <a:alpha val="48627"/>
              </a:srgbClr>
            </a:outerShdw>
          </a:effectLst>
        </p:spPr>
      </p:cxnSp>
      <p:pic>
        <p:nvPicPr>
          <p:cNvPr id="305" name="Google Shape;3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2514868"/>
            <a:ext cx="255270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В Воркуте рядом со школой на женщину набросились бойцовские собаки - KP.RU" id="306" name="Google Shape;306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descr="В Воркуте рядом со школой на женщину набросились бойцовские собаки - KP.RU" id="307" name="Google Shape;307;p17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308" name="Google Shape;30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3768" y="3140968"/>
            <a:ext cx="245745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Намордник для собаки. Как правильно выбрать намордник и приучить к нему  собаку?" id="309" name="Google Shape;309;p17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310" name="Google Shape;31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250" y="4581128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17761" y="2325618"/>
            <a:ext cx="22669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0192" y="4083943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318" name="Google Shape;318;p1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 Формирование понятия начинается с выбора гипотезы, или стратегии, соответствующей целям исследования.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Стратегии формирования понятий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сканирование 		сосредоточение</a:t>
            </a:r>
            <a:endParaRPr/>
          </a:p>
        </p:txBody>
      </p:sp>
      <p:cxnSp>
        <p:nvCxnSpPr>
          <p:cNvPr id="319" name="Google Shape;319;p18"/>
          <p:cNvCxnSpPr/>
          <p:nvPr/>
        </p:nvCxnSpPr>
        <p:spPr>
          <a:xfrm flipH="1">
            <a:off x="2771800" y="3645024"/>
            <a:ext cx="1296144" cy="648072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algn="t" dir="5400000" dist="25400">
              <a:srgbClr val="000000">
                <a:alpha val="48627"/>
              </a:srgbClr>
            </a:outerShdw>
          </a:effectLst>
        </p:spPr>
      </p:cxnSp>
      <p:cxnSp>
        <p:nvCxnSpPr>
          <p:cNvPr id="320" name="Google Shape;320;p18"/>
          <p:cNvCxnSpPr/>
          <p:nvPr/>
        </p:nvCxnSpPr>
        <p:spPr>
          <a:xfrm>
            <a:off x="5364088" y="3645024"/>
            <a:ext cx="1152128" cy="800472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algn="t" dir="5400000" dist="25400">
              <a:srgbClr val="000000">
                <a:alpha val="48627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Виды сканирования</a:t>
            </a:r>
            <a:endParaRPr/>
          </a:p>
        </p:txBody>
      </p:sp>
      <p:sp>
        <p:nvSpPr>
          <p:cNvPr id="326" name="Google Shape;326;p19"/>
          <p:cNvSpPr txBox="1"/>
          <p:nvPr>
            <p:ph idx="1" type="body"/>
          </p:nvPr>
        </p:nvSpPr>
        <p:spPr>
          <a:xfrm>
            <a:off x="467544" y="1447800"/>
            <a:ext cx="8219256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</a:t>
            </a:r>
            <a:r>
              <a:rPr b="1" lang="ru-RU"/>
              <a:t>Одновременное сканирование </a:t>
            </a:r>
            <a:r>
              <a:rPr lang="ru-RU"/>
              <a:t>– стратегия, при которой человек начинает со всех возможных гипотез и отбрасывает не выдержавшие  проверки.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</a:t>
            </a:r>
            <a:r>
              <a:rPr b="1" lang="ru-RU"/>
              <a:t>Последовательное сканирование </a:t>
            </a:r>
            <a:r>
              <a:rPr lang="ru-RU"/>
              <a:t>– стратегия, при которой человек начинает с одной гипотезы, придерживается ее, пока она оправдывается, и затем меняет на другую с учетом всего предшествующего опыта.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Виды сосредоточения</a:t>
            </a:r>
            <a:endParaRPr/>
          </a:p>
        </p:txBody>
      </p:sp>
      <p:sp>
        <p:nvSpPr>
          <p:cNvPr id="332" name="Google Shape;332;p20"/>
          <p:cNvSpPr txBox="1"/>
          <p:nvPr>
            <p:ph idx="1" type="body"/>
          </p:nvPr>
        </p:nvSpPr>
        <p:spPr>
          <a:xfrm>
            <a:off x="467544" y="1447800"/>
            <a:ext cx="8219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b="1" lang="ru-RU"/>
              <a:t>Консервативное сосредоточение </a:t>
            </a:r>
            <a:r>
              <a:rPr lang="ru-RU"/>
              <a:t>– стратегия, при которой человек формулирует гипотезу, выбирает для нее положительный пример в качестве главного, затем производит последовательные переформулировки (при каждой из которых меняется только один признак), замечая после каждой попытки, оказывается ли результат положительным или отрицательным.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b="1" lang="ru-RU"/>
              <a:t>Рискованное сосредоточение </a:t>
            </a:r>
            <a:r>
              <a:rPr lang="ru-RU"/>
              <a:t>– стратегия, которая характеризуется изменением более чем одного признака за один раз.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Принятие решения</a:t>
            </a:r>
            <a:endParaRPr/>
          </a:p>
        </p:txBody>
      </p:sp>
      <p:sp>
        <p:nvSpPr>
          <p:cNvPr id="338" name="Google Shape;338;p2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             дедукция                               индукция</a:t>
            </a:r>
            <a:endParaRPr/>
          </a:p>
        </p:txBody>
      </p:sp>
      <p:cxnSp>
        <p:nvCxnSpPr>
          <p:cNvPr id="339" name="Google Shape;339;p25"/>
          <p:cNvCxnSpPr/>
          <p:nvPr/>
        </p:nvCxnSpPr>
        <p:spPr>
          <a:xfrm flipH="1">
            <a:off x="2771800" y="1268760"/>
            <a:ext cx="1440160" cy="288032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algn="t" dir="5400000" dist="25400">
              <a:srgbClr val="000000">
                <a:alpha val="48627"/>
              </a:srgbClr>
            </a:outerShdw>
          </a:effectLst>
        </p:spPr>
      </p:cxnSp>
      <p:cxnSp>
        <p:nvCxnSpPr>
          <p:cNvPr id="340" name="Google Shape;340;p25"/>
          <p:cNvCxnSpPr/>
          <p:nvPr/>
        </p:nvCxnSpPr>
        <p:spPr>
          <a:xfrm>
            <a:off x="4788024" y="1268760"/>
            <a:ext cx="1368152" cy="288032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38100" rotWithShape="0" algn="t" dir="5400000" dist="25400">
              <a:srgbClr val="000000">
                <a:alpha val="48627"/>
              </a:srgbClr>
            </a:outerShdw>
          </a:effectLst>
        </p:spPr>
      </p:cxnSp>
      <p:sp>
        <p:nvSpPr>
          <p:cNvPr descr="В Воркуте рядом со школой на женщину набросились бойцовские собаки - KP.RU" id="341" name="Google Shape;341;p2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descr="В Воркуте рядом со школой на женщину набросились бойцовские собаки - KP.RU" id="342" name="Google Shape;342;p25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descr="Намордник для собаки. Как правильно выбрать намордник и приучить к нему  собаку?" id="343" name="Google Shape;343;p25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Принятие решений</a:t>
            </a:r>
            <a:endParaRPr/>
          </a:p>
        </p:txBody>
      </p:sp>
      <p:sp>
        <p:nvSpPr>
          <p:cNvPr id="349" name="Google Shape;349;p2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AutoNum type="arabicPeriod"/>
            </a:pPr>
            <a:r>
              <a:rPr lang="ru-RU"/>
              <a:t>Формирование множества решений.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AutoNum type="arabicPeriod"/>
            </a:pPr>
            <a:r>
              <a:rPr lang="ru-RU"/>
              <a:t>Последовательное отбрасывание решений.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AutoNum type="arabicPeriod"/>
            </a:pPr>
            <a:r>
              <a:rPr lang="ru-RU"/>
              <a:t>Остается одно наиболее подходящее решение.</a:t>
            </a:r>
            <a:endParaRPr/>
          </a:p>
          <a:p>
            <a:pPr indent="-374015" lvl="0" marL="51435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id="350" name="Google Shape;3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316836"/>
            <a:ext cx="3915519" cy="26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6"/>
          <p:cNvSpPr/>
          <p:nvPr/>
        </p:nvSpPr>
        <p:spPr>
          <a:xfrm>
            <a:off x="611560" y="3717032"/>
            <a:ext cx="3528392" cy="24482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Рамки решения – это представления человека, прини-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мающего  решение, о  действиях, результатах  и  непредвиденных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обстоятельствах, связанных с конкретным выбором.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Решение  задач – это </a:t>
            </a:r>
            <a:endParaRPr/>
          </a:p>
        </p:txBody>
      </p:sp>
      <p:sp>
        <p:nvSpPr>
          <p:cNvPr id="357" name="Google Shape;357;p2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процесс  выполнения  действий  или  мыслительных операций, направленный на достижение цели, заданной в рамках проблемной ситуации – задачи.</a:t>
            </a:r>
            <a:endParaRPr/>
          </a:p>
        </p:txBody>
      </p:sp>
      <p:sp>
        <p:nvSpPr>
          <p:cNvPr id="358" name="Google Shape;358;p27"/>
          <p:cNvSpPr/>
          <p:nvPr/>
        </p:nvSpPr>
        <p:spPr>
          <a:xfrm>
            <a:off x="2267744" y="4293096"/>
            <a:ext cx="6264696" cy="223224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С  точки  зрения  когнитивного  подхода  процесс  решения задач является наиболее сложной из всех  функций интеллекта и определяется как когнитивный процесс более высокого порядка, требующий согласования и управления более элементарными или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фундаментальными навыками.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Типы задач по У.Р. Рейтману</a:t>
            </a:r>
            <a:endParaRPr/>
          </a:p>
        </p:txBody>
      </p:sp>
      <p:sp>
        <p:nvSpPr>
          <p:cNvPr id="364" name="Google Shape;364;p28"/>
          <p:cNvSpPr txBox="1"/>
          <p:nvPr>
            <p:ph idx="1" type="body"/>
          </p:nvPr>
        </p:nvSpPr>
        <p:spPr>
          <a:xfrm>
            <a:off x="251520" y="1447800"/>
            <a:ext cx="8435280" cy="5149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b="1" lang="ru-RU"/>
              <a:t> 1 тип</a:t>
            </a:r>
            <a:r>
              <a:rPr lang="ru-RU"/>
              <a:t> - решение предполагает преобразование или создание состояний, объектов или скоплений объектов, в которых четко определены начальные и конечные состояния.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lang="ru-RU"/>
              <a:t>2 тип </a:t>
            </a:r>
            <a:r>
              <a:rPr lang="ru-RU"/>
              <a:t>– для решения  требуется изобрести конечный объект.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lang="ru-RU"/>
              <a:t>3 тип </a:t>
            </a:r>
            <a:r>
              <a:rPr lang="ru-RU"/>
              <a:t>- в начальный момент имеется один или более компонентов (каждый из которых есть нечто конкретное), а на конечной стадии таких задач один или более компонентов  теряют  свою  самостоятельную  сущность.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lang="ru-RU"/>
              <a:t>4 тип </a:t>
            </a:r>
            <a:r>
              <a:rPr lang="ru-RU"/>
              <a:t>- имеется хорошо определенный объект и известно конечное состояние, достигаемое путем некоторого (определенного) преобразования начального объекта.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370" name="Google Shape;370;p2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>
                <a:solidFill>
                  <a:srgbClr val="FF0000"/>
                </a:solidFill>
              </a:rPr>
              <a:t>! Когнитивные психологи связывают процесс решения задач со структурой  памяти.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 Решение задач представляет собой уникальную форму обработки воспоминаний, но не через простое воспроизведение последних, а посредством образования новых связей.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pic>
        <p:nvPicPr>
          <p:cNvPr id="376" name="Google Shape;376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2276871"/>
            <a:ext cx="234315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0"/>
          <p:cNvSpPr txBox="1"/>
          <p:nvPr>
            <p:ph idx="2" type="body"/>
          </p:nvPr>
        </p:nvSpPr>
        <p:spPr>
          <a:xfrm>
            <a:off x="612775" y="1447800"/>
            <a:ext cx="80702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Сеть задачи					Сеть решения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			</a:t>
            </a:r>
            <a:endParaRPr/>
          </a:p>
        </p:txBody>
      </p:sp>
      <p:sp>
        <p:nvSpPr>
          <p:cNvPr descr="Тимур Василенко О.Генри и когнитивные карты | Организация времени" id="378" name="Google Shape;378;p3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descr="Тимур Василенко О.Генри и когнитивные карты | Организация времени" id="379" name="Google Shape;379;p30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380" name="Google Shape;3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4127" y="2276872"/>
            <a:ext cx="234315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0"/>
          <p:cNvSpPr/>
          <p:nvPr/>
        </p:nvSpPr>
        <p:spPr>
          <a:xfrm>
            <a:off x="3176534" y="2384883"/>
            <a:ext cx="2540279" cy="17366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Построение набора отношений, позволяющих перевести сеть из состояния задачи в состояние решения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Типы мышления</a:t>
            </a:r>
            <a:endParaRPr/>
          </a:p>
        </p:txBody>
      </p:sp>
      <p:sp>
        <p:nvSpPr>
          <p:cNvPr id="387" name="Google Shape;387;p31"/>
          <p:cNvSpPr txBox="1"/>
          <p:nvPr>
            <p:ph idx="1" type="body"/>
          </p:nvPr>
        </p:nvSpPr>
        <p:spPr>
          <a:xfrm>
            <a:off x="395536" y="1447800"/>
            <a:ext cx="829126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ru-RU" sz="2800"/>
              <a:t>1) Наглядно-действенное (предметно-манипулятивное). Преобладает у детей с рождения до 1,5 лет.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 sz="2800"/>
              <a:t>2) Конкретно-предметное мышление (в возрасте от 1,5 до 7 лет).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 sz="2800"/>
              <a:t>3) Наглядно-образное мышление (образы представляются в кратковременной и оперативной памяти. Доминирует от 3 лет до 5-6 лет).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 sz="2800"/>
              <a:t>4) Понятийное мышление – словесно-логическое – использование понятий и логических конструкций обусловленных языком.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 sz="2800"/>
              <a:t>5) Абстрактно-логическое мышление (мышление абстракциями — категориями, которых нет в природе. Формируется с 7 лет).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ru-RU"/>
              <a:t>Мыслительные операции</a:t>
            </a:r>
            <a:endParaRPr/>
          </a:p>
        </p:txBody>
      </p:sp>
      <p:sp>
        <p:nvSpPr>
          <p:cNvPr id="393" name="Google Shape;393;p3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1) Сравнение;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2) Анализ;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3) Синтез;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4) Абстракция;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5) Конкретизация;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6) Индукция;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7) Дедукция;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8) Классификация;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None/>
            </a:pPr>
            <a:r>
              <a:rPr lang="ru-RU" sz="2800"/>
              <a:t>9) Обобщение.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ru-RU"/>
              <a:t>Свойства мышления</a:t>
            </a:r>
            <a:endParaRPr/>
          </a:p>
        </p:txBody>
      </p:sp>
      <p:sp>
        <p:nvSpPr>
          <p:cNvPr id="399" name="Google Shape;399;p3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80"/>
              <a:buChar char="●"/>
            </a:pPr>
            <a:r>
              <a:rPr lang="ru-RU" sz="2800"/>
              <a:t>Гибкость – ригидность (вязкость)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Char char="●"/>
            </a:pPr>
            <a:r>
              <a:rPr lang="ru-RU" sz="2800"/>
              <a:t>Скорость: высокая – низкая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Char char="●"/>
            </a:pPr>
            <a:r>
              <a:rPr lang="ru-RU" sz="2800"/>
              <a:t>Длительность: высокая - низкая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Char char="●"/>
            </a:pPr>
            <a:r>
              <a:rPr lang="ru-RU" sz="2800"/>
              <a:t>Глубина – поверхностность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Char char="●"/>
            </a:pPr>
            <a:r>
              <a:rPr lang="ru-RU" sz="2800"/>
              <a:t>Широта – узость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Char char="●"/>
            </a:pPr>
            <a:r>
              <a:rPr lang="ru-RU" sz="2800"/>
              <a:t>Самостоятельность – несамостоятельность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Char char="●"/>
            </a:pPr>
            <a:r>
              <a:rPr lang="ru-RU" sz="2800"/>
              <a:t>Критичность – отсутствие критичности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380"/>
              <a:buChar char="●"/>
            </a:pPr>
            <a:r>
              <a:rPr lang="ru-RU" sz="2800"/>
              <a:t>Полноцветное – черно-белое мышление.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Интеллект – это </a:t>
            </a:r>
            <a:endParaRPr/>
          </a:p>
        </p:txBody>
      </p:sp>
      <p:sp>
        <p:nvSpPr>
          <p:cNvPr id="405" name="Google Shape;405;p3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способность  приобретать,  воспроизводить  и  использовать  знания  для  понимания  конкретных  и  абстрактных понятий и отношений между объектами и идеями и использовать знания осмысленным образом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 txBox="1"/>
          <p:nvPr>
            <p:ph type="title"/>
          </p:nvPr>
        </p:nvSpPr>
        <p:spPr>
          <a:xfrm>
            <a:off x="467544" y="274638"/>
            <a:ext cx="867645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lang="ru-RU" sz="2600"/>
              <a:t>Способности, которые характеризуют интеллект человека (Никерсон, Перкинс и Смит):</a:t>
            </a:r>
            <a:endParaRPr sz="2600"/>
          </a:p>
        </p:txBody>
      </p:sp>
      <p:sp>
        <p:nvSpPr>
          <p:cNvPr id="411" name="Google Shape;411;p35"/>
          <p:cNvSpPr txBox="1"/>
          <p:nvPr>
            <p:ph idx="1" type="body"/>
          </p:nvPr>
        </p:nvSpPr>
        <p:spPr>
          <a:xfrm>
            <a:off x="323528" y="1447800"/>
            <a:ext cx="836327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ru-RU"/>
              <a:t>способность классифицировать паттерны;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ru-RU"/>
              <a:t>способность к адаптивному изменению поведения – научению;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ru-RU"/>
              <a:t>способность к дедуктивному мышлению;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ru-RU"/>
              <a:t>способность  к  индуктивному  мышлению – к  обобщениям;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ru-RU"/>
              <a:t>способность разрабатывать и использовать концептуальные  модели;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ru-RU"/>
              <a:t>способность понимать.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Libre Franklin"/>
              <a:buNone/>
            </a:pPr>
            <a:r>
              <a:rPr lang="ru-RU" sz="2900"/>
              <a:t>Триархическая  теория человеческого  интеллекта Р.  Стернберга</a:t>
            </a:r>
            <a:endParaRPr sz="2900"/>
          </a:p>
        </p:txBody>
      </p:sp>
      <p:sp>
        <p:nvSpPr>
          <p:cNvPr id="417" name="Google Shape;417;p3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ru-RU"/>
              <a:t>включает  три  подтеории,  служащие  основаниями  для  определенных  моделей  интеллектуального  поведения  человека.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b="1" lang="ru-RU"/>
              <a:t>1. Компоненты интеллектуального поведения.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Эта теория определяет структуры и механизм, лежащие в основе  интеллектуального  поведения.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Три  компонента  обработки информации: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а) научение  определенным  действиям;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б)  планирование  того,  что  и  как  делать;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в)  фактические  действия.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	Люди, способные  обрабатывать  информацию  таким  образом,  как  правило,  хорошо  справляются  с  тестовыми заданиями  и  показывают  высокие  результаты  в  стандартных  тестах.  Они  также  успешно  комментируют работу других людей. Однако они не всегда способны к критическому мышлению и не особенно креативны.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7"/>
          <p:cNvSpPr txBox="1"/>
          <p:nvPr>
            <p:ph type="title"/>
          </p:nvPr>
        </p:nvSpPr>
        <p:spPr>
          <a:xfrm>
            <a:off x="251520" y="274638"/>
            <a:ext cx="8435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2.  Основанное  на  опыте  интеллектуальное  поведение. </a:t>
            </a:r>
            <a:endParaRPr/>
          </a:p>
        </p:txBody>
      </p:sp>
      <p:sp>
        <p:nvSpPr>
          <p:cNvPr id="423" name="Google Shape;423;p3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Этот  компонент  постулирует,  что  для  данной задачи  или  ситуации  контекстуально  уместное  поведение  не  «одинаково  разумно»  во  всех  точках  опыта, связанного с этими действиями или классом действий.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 Этот вид интеллекта лучше всего проявляется, когда люди  сталкиваются  с  новой  ситуацией  или  вырабатывают  автоматизм  при  выполнении  определенной задачи. Те, у кого развит этот компонент, не получают высоких оценок в типичных тестах интеллекта, но они креативны.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3. Контекстуальное интеллектуальное поведение. </a:t>
            </a:r>
            <a:endParaRPr/>
          </a:p>
        </p:txBody>
      </p:sp>
      <p:sp>
        <p:nvSpPr>
          <p:cNvPr id="429" name="Google Shape;429;p38"/>
          <p:cNvSpPr txBox="1"/>
          <p:nvPr>
            <p:ph idx="1" type="body"/>
          </p:nvPr>
        </p:nvSpPr>
        <p:spPr>
          <a:xfrm>
            <a:off x="323528" y="1447800"/>
            <a:ext cx="856895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2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None/>
            </a:pPr>
            <a:r>
              <a:rPr lang="ru-RU" sz="2400"/>
              <a:t>Оно  включает:  </a:t>
            </a:r>
            <a:endParaRPr sz="2400"/>
          </a:p>
          <a:p>
            <a:pPr indent="0" lvl="2" marL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rPr lang="ru-RU" sz="2400"/>
              <a:t>а)  адаптацию  к  существующему окружению; </a:t>
            </a:r>
            <a:endParaRPr sz="2400"/>
          </a:p>
          <a:p>
            <a:pPr indent="0" lvl="2" marL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rPr lang="ru-RU" sz="2400"/>
              <a:t>б) выбор более оптимального окружения, чем то, в котором в данный момент живет человек; </a:t>
            </a:r>
            <a:endParaRPr sz="2400"/>
          </a:p>
          <a:p>
            <a:pPr indent="0" lvl="2" marL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rPr lang="ru-RU" sz="2400"/>
              <a:t>в) изменение  существующего  окружения,  чтобы  оно  лучше  соответствовало  навыкам,  интересам  или ценностям человека. </a:t>
            </a:r>
            <a:endParaRPr sz="2400"/>
          </a:p>
          <a:p>
            <a:pPr indent="0" lvl="2" marL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2040"/>
              <a:buNone/>
            </a:pPr>
            <a:r>
              <a:rPr lang="ru-RU" sz="2400"/>
              <a:t>	Контекстуальный интеллект позволяет человеку хорошо соответствовать окружению, изменяя  себя,  окружение  или  и  то,  и  другое.  Мы  могли  бы  рассматривать  этот  тип  интеллекта  как эффективный  для  жизни  в  мире. </a:t>
            </a:r>
            <a:endParaRPr sz="2400"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435" name="Google Shape;435;p3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Поскольку  природа  интеллекта  комплексна,  определить  его  сложно.  Сначала  эти  концептуальные затруднения  пытались  разрешить  при  помощи  факторного  анализа,  позволяющего  разделить  общие  и конкретные  способности,  но  такие  процедуры  были  раскритикованы  как  не  дающие  информации  об умственных процессах.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441" name="Google Shape;441;p40"/>
          <p:cNvSpPr txBox="1"/>
          <p:nvPr>
            <p:ph idx="1" type="body"/>
          </p:nvPr>
        </p:nvSpPr>
        <p:spPr>
          <a:xfrm>
            <a:off x="323528" y="1447800"/>
            <a:ext cx="856895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Когнитивные теории интеллекта предполагают, что интеллект — это компонент, взаимодействующий с  информацией  на  различных  этапах  ее  обработки,  причем  на  каждом  этапе  выполняются  уникальные  операции.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В исследовании, опирающемся на данное представление, было определено, что воспроизведение  из памяти (скорость, точность и количество) зависит от вербальных способностей  и  что  запас  знаний  человека  (новичок  или  мастер)  влияет  на  количество  и  точность воспроизведения, а также на точность его метапамяти.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ed6e1159d7_0_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47" name="Google Shape;447;g1ed6e1159d7_0_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4700"/>
              <a:t>Подходы к пониманию интеллекта, мы изучили на практике</a:t>
            </a:r>
            <a:endParaRPr sz="4700"/>
          </a:p>
        </p:txBody>
      </p:sp>
      <p:pic>
        <p:nvPicPr>
          <p:cNvPr id="448" name="Google Shape;448;g1ed6e1159d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0588" y="3916113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Искусственный интеллект – это </a:t>
            </a:r>
            <a:endParaRPr/>
          </a:p>
        </p:txBody>
      </p:sp>
      <p:sp>
        <p:nvSpPr>
          <p:cNvPr id="454" name="Google Shape;454;p4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в  широком  смысле  определяется  как  отрасль  компьютерной  науки, связанная  с  разработкой  компьютеров  (аппаратных  средств  ЭВМ)  и  компьютерных  программ (программного  обеспечения),  которые  имитируют  когнитивные  функции  человека.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460" name="Google Shape;460;p4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53975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Когнитивная психология тесно связана с искусственным интеллектом. </a:t>
            </a:r>
            <a:endParaRPr/>
          </a:p>
          <a:p>
            <a:pPr indent="53975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Достижения когнитивной психологии  формируют знания о том как протекают процессы восприятия, памяти, языка и мышления у человека. </a:t>
            </a:r>
            <a:endParaRPr/>
          </a:p>
          <a:p>
            <a:pPr indent="53975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Достижения в области искусственного интеллекта дает новые возможности понимания человеческого познания.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Задачи, решаемые с помощью искусственного интеллекта</a:t>
            </a:r>
            <a:endParaRPr/>
          </a:p>
        </p:txBody>
      </p:sp>
      <p:sp>
        <p:nvSpPr>
          <p:cNvPr id="466" name="Google Shape;466;p4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1) распознавание объектов,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2) перевод текстов,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3) автоматическое сочинительство,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4) решение задач,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5) принятие управленческих  и экспертных решений,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6) рисование  и сочинение музыки,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7) «интеллектуальные» роботы,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8) другое.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ed6e1159d7_0_49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72" name="Google Shape;472;g1ed6e1159d7_0_49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5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5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</a:pPr>
            <a:r>
              <a:rPr lang="ru-RU" sz="5000">
                <a:solidFill>
                  <a:schemeClr val="accent1"/>
                </a:solidFill>
              </a:rPr>
              <a:t>ЯЗЫК И РЕЧЬ</a:t>
            </a:r>
            <a:endParaRPr sz="5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ed6e1159d7_0_25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478" name="Google Shape;478;g1ed6e1159d7_0_25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60"/>
              <a:buNone/>
            </a:pPr>
            <a:r>
              <a:rPr lang="ru-RU" sz="3600"/>
              <a:t>Почему язык и речь изучаются в когнитивной психологии</a:t>
            </a:r>
            <a:endParaRPr sz="3600"/>
          </a:p>
        </p:txBody>
      </p:sp>
      <p:pic>
        <p:nvPicPr>
          <p:cNvPr id="479" name="Google Shape;479;g1ed6e1159d7_0_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224" y="4293096"/>
            <a:ext cx="1498259" cy="1498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ed6e1159d7_0_257"/>
          <p:cNvSpPr txBox="1"/>
          <p:nvPr>
            <p:ph idx="1" type="body"/>
          </p:nvPr>
        </p:nvSpPr>
        <p:spPr>
          <a:xfrm>
            <a:off x="323528" y="404664"/>
            <a:ext cx="8640900" cy="56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60"/>
              <a:buChar char="●"/>
            </a:pPr>
            <a:r>
              <a:rPr lang="ru-RU" sz="1900"/>
              <a:t>развитие языка у homo sapiens представляет собой уникальный вид абстрагирования, механизм которого  служит  основой  познания,</a:t>
            </a:r>
            <a:endParaRPr sz="2900"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660"/>
              <a:buChar char="●"/>
            </a:pPr>
            <a:r>
              <a:rPr lang="ru-RU" sz="1900"/>
              <a:t>обработка языка — важный компонент обработки и хранения информации,</a:t>
            </a:r>
            <a:endParaRPr sz="2900"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660"/>
              <a:buChar char="●"/>
            </a:pPr>
            <a:r>
              <a:rPr lang="ru-RU" sz="1900"/>
              <a:t>язык  участвует  в  различных  видах  человеческого  мышления  и  решении  задач,</a:t>
            </a:r>
            <a:endParaRPr sz="2900"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660"/>
              <a:buChar char="●"/>
            </a:pPr>
            <a:r>
              <a:rPr lang="ru-RU" sz="1900"/>
              <a:t>абстракции, выраженные вербальными символами, позволяют нам судить об этих событиях,</a:t>
            </a:r>
            <a:endParaRPr sz="1900"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660"/>
              <a:buChar char="●"/>
            </a:pPr>
            <a:r>
              <a:rPr lang="ru-RU" sz="1900"/>
              <a:t>язык — одно из главных средств человеческого общения, обмен информацией чаще всего происходит с его помощью,</a:t>
            </a:r>
            <a:endParaRPr sz="2900"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660"/>
              <a:buChar char="●"/>
            </a:pPr>
            <a:r>
              <a:rPr lang="ru-RU" sz="1900"/>
              <a:t>язык  влияет  на  восприятие,  являющееся  фундаментальным  аспектом  познания.  Некоторые  ученые утверждают, что язык, используемый человеком для описания мира, влияет на то, как человек воспринимает этот мир. С другой стороны, развитие языка в значительной степени основано на восприятии мира,</a:t>
            </a:r>
            <a:endParaRPr sz="2900"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660"/>
              <a:buChar char="●"/>
            </a:pPr>
            <a:r>
              <a:rPr lang="ru-RU" sz="1900"/>
              <a:t>обработка  слов,  речь  и  семантика,  по-видимому,  задействуют  определенные  области  мозга  и,  таким образом,  обеспечивает  важную  связь  между  нейроанатомическими  структурами  и  языком.  Кроме  того, исследования патологии мозга часто обнаруживали явные изменения в функциях языка.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ed6e1159d7_0_26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490" name="Google Shape;490;g1ed6e1159d7_0_26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Язык и речь это одно и тоже</a:t>
            </a:r>
            <a:endParaRPr/>
          </a:p>
        </p:txBody>
      </p:sp>
      <p:pic>
        <p:nvPicPr>
          <p:cNvPr id="491" name="Google Shape;491;g1ed6e1159d7_0_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853" y="2103806"/>
            <a:ext cx="1498259" cy="1498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ed6e1159d7_0_26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497" name="Google Shape;497;g1ed6e1159d7_0_26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Различие в науку ввел Фердинанд де Соссюр </a:t>
            </a:r>
            <a:endParaRPr/>
          </a:p>
        </p:txBody>
      </p:sp>
      <p:pic>
        <p:nvPicPr>
          <p:cNvPr id="498" name="Google Shape;498;g1ed6e1159d7_0_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3463" y="2204864"/>
            <a:ext cx="252412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ed6e1159d7_0_273"/>
          <p:cNvSpPr txBox="1"/>
          <p:nvPr>
            <p:ph type="title"/>
          </p:nvPr>
        </p:nvSpPr>
        <p:spPr>
          <a:xfrm>
            <a:off x="914400" y="3047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Язык </a:t>
            </a:r>
            <a:endParaRPr/>
          </a:p>
        </p:txBody>
      </p:sp>
      <p:sp>
        <p:nvSpPr>
          <p:cNvPr id="504" name="Google Shape;504;g1ed6e1159d7_0_27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понимается  либо  как  скрытая  система  лексических  единиц,  а  также правил их соединения в речи , либо развернуто как сложная  система  кодов,  обозначающих  предметы,  признаки,  действия или отношения, которые несут функцию кодирования, передачи информации и введения ее в различные системы.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ed6e1159d7_0_27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Речь – это </a:t>
            </a:r>
            <a:endParaRPr/>
          </a:p>
        </p:txBody>
      </p:sp>
      <p:sp>
        <p:nvSpPr>
          <p:cNvPr id="510" name="Google Shape;510;g1ed6e1159d7_0_27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конкретная реализация языка в процессе коммуникации и взаимодействия между людьми.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Речь можно определить как сложившуюся исторически в ходе материальной преобразующей деятельности людей форму общения, опосредованную языком.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3400"/>
              <a:buNone/>
            </a:pPr>
            <a:r>
              <a:rPr lang="ru-RU" sz="4000">
                <a:solidFill>
                  <a:srgbClr val="FF0000"/>
                </a:solidFill>
              </a:rPr>
              <a:t>! </a:t>
            </a:r>
            <a:r>
              <a:rPr lang="ru-RU" sz="3200">
                <a:solidFill>
                  <a:srgbClr val="FF0000"/>
                </a:solidFill>
              </a:rPr>
              <a:t>Речь всегда обращена к кому-то.</a:t>
            </a:r>
            <a:endParaRPr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ed6e1159d7_0_28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Механизм речи включает:</a:t>
            </a:r>
            <a:endParaRPr/>
          </a:p>
        </p:txBody>
      </p:sp>
      <p:sp>
        <p:nvSpPr>
          <p:cNvPr id="516" name="Google Shape;516;g1ed6e1159d7_0_28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1) восприятие речи;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2) продуцирование речи;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3) внутренняя речь, которая является центральным звеном.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d6e1159d7_0_28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Иерархические уровни механизма внутренней речи </a:t>
            </a:r>
            <a:endParaRPr/>
          </a:p>
        </p:txBody>
      </p:sp>
      <p:sp>
        <p:nvSpPr>
          <p:cNvPr id="522" name="Google Shape;522;g1ed6e1159d7_0_28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1) Механизмы действия и владения отдельными словами, обозначающими обычно явления внешнего мира.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ed6e1159d7_0_29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Иерархические уровни механизма внутренней речи </a:t>
            </a:r>
            <a:endParaRPr/>
          </a:p>
        </p:txBody>
      </p:sp>
      <p:sp>
        <p:nvSpPr>
          <p:cNvPr id="528" name="Google Shape;528;g1ed6e1159d7_0_29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ru-RU"/>
              <a:t>2) Связан с образованием множественных связей между  базовыми  элементами  и  формированием  так  называемой «вербальной сети».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Вербальная сеть – это материализованная лексика  языка.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Эксперименты  показали,  что  объективной  и  языковой связанности слов соответствует связанность в нервной системе их следов. Эти связи образуют так называемые «семантические поля», или «вербальные сети». При активации узла «вербальной сети» возбуждение, затухая, распространяется на примыкающие структуры.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Связи «вербальной сети» стабильны, в существенных чертах одинаковы у всех людей, сохраняются в течение жизни. «Вербальная сеть» составляет статическую основу речевого общения людей.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ed6e1159d7_0_29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Иерархические уровни механизма внутренней речи </a:t>
            </a:r>
            <a:endParaRPr/>
          </a:p>
        </p:txBody>
      </p:sp>
      <p:sp>
        <p:nvSpPr>
          <p:cNvPr id="534" name="Google Shape;534;g1ed6e1159d7_0_298"/>
          <p:cNvSpPr txBox="1"/>
          <p:nvPr>
            <p:ph idx="1" type="body"/>
          </p:nvPr>
        </p:nvSpPr>
        <p:spPr>
          <a:xfrm>
            <a:off x="467544" y="1447800"/>
            <a:ext cx="8219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3) Динамический, по своим временным и содержательным характеристикам соответствует продуцируемой внешней речи. С физиологической стороны состоит из быстро сменяющихся активаций отдельных узлов «вербальной сети» в их специальных интеграциях.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Каждому произносимому человеком слову предшествует активация соответствующей структуры внутренней речи, которая затем путем перекодирования переходит в команды артикуляционным органам.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ed6e1159d7_0_30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На организацию диалога влияет</a:t>
            </a:r>
            <a:endParaRPr/>
          </a:p>
        </p:txBody>
      </p:sp>
      <p:sp>
        <p:nvSpPr>
          <p:cNvPr id="540" name="Google Shape;540;g1ed6e1159d7_0_303"/>
          <p:cNvSpPr txBox="1"/>
          <p:nvPr>
            <p:ph idx="1" type="body"/>
          </p:nvPr>
        </p:nvSpPr>
        <p:spPr>
          <a:xfrm>
            <a:off x="251520" y="1447800"/>
            <a:ext cx="8568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rPr lang="ru-RU" sz="2200"/>
              <a:t>	Факторы «Я»								Факторы «не-Я»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rPr lang="ru-RU" sz="2200"/>
              <a:t>					Факторы ситуации</a:t>
            </a:r>
            <a:endParaRPr sz="2200"/>
          </a:p>
        </p:txBody>
      </p:sp>
      <p:cxnSp>
        <p:nvCxnSpPr>
          <p:cNvPr id="541" name="Google Shape;541;g1ed6e1159d7_0_303"/>
          <p:cNvCxnSpPr/>
          <p:nvPr/>
        </p:nvCxnSpPr>
        <p:spPr>
          <a:xfrm flipH="1">
            <a:off x="1835588" y="1196752"/>
            <a:ext cx="1728300" cy="1728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2" name="Google Shape;542;g1ed6e1159d7_0_303"/>
          <p:cNvCxnSpPr/>
          <p:nvPr/>
        </p:nvCxnSpPr>
        <p:spPr>
          <a:xfrm>
            <a:off x="5868144" y="1196752"/>
            <a:ext cx="1368300" cy="1656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3" name="Google Shape;543;g1ed6e1159d7_0_303"/>
          <p:cNvCxnSpPr/>
          <p:nvPr/>
        </p:nvCxnSpPr>
        <p:spPr>
          <a:xfrm>
            <a:off x="4355976" y="1196752"/>
            <a:ext cx="0" cy="2664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ed6e1159d7_0_31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Факторы «Я»</a:t>
            </a:r>
            <a:endParaRPr/>
          </a:p>
        </p:txBody>
      </p:sp>
      <p:sp>
        <p:nvSpPr>
          <p:cNvPr id="549" name="Google Shape;549;g1ed6e1159d7_0_31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мотив общения,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интеллектуальный потенциал человека (образование человека, его конкретные знания,  мировоззрение,  убеждения).,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чувства.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1ed6e1159d7_0_31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Факторы «не-Я»</a:t>
            </a:r>
            <a:endParaRPr/>
          </a:p>
        </p:txBody>
      </p:sp>
      <p:sp>
        <p:nvSpPr>
          <p:cNvPr id="555" name="Google Shape;555;g1ed6e1159d7_0_31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ru-RU"/>
              <a:t>необходимость  при общении понимать рациональную, логическую позицию партнера,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ru-RU"/>
              <a:t>выявлением эмоционального отношения партнера,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ru-RU"/>
              <a:t>социально-личностное представления собеседника.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! При общении со знакомыми людьми эти оценки становятся более личностными.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ed6e1159d7_0_32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Факторы ситуации</a:t>
            </a:r>
            <a:endParaRPr/>
          </a:p>
        </p:txBody>
      </p:sp>
      <p:sp>
        <p:nvSpPr>
          <p:cNvPr id="561" name="Google Shape;561;g1ed6e1159d7_0_32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временные и пространственные характеристики ситуации (например, физическая дистанция между людьми).</a:t>
            </a:r>
            <a:endParaRPr/>
          </a:p>
        </p:txBody>
      </p:sp>
      <p:pic>
        <p:nvPicPr>
          <p:cNvPr id="562" name="Google Shape;562;g1ed6e1159d7_0_3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9912" y="3194060"/>
            <a:ext cx="4444751" cy="3329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ed6e1159d7_0_32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Понимание речи – это </a:t>
            </a:r>
            <a:endParaRPr/>
          </a:p>
        </p:txBody>
      </p:sp>
      <p:sp>
        <p:nvSpPr>
          <p:cNvPr id="568" name="Google Shape;568;g1ed6e1159d7_0_32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процесс, при котором на основании некоторого сообщения создается мысленный образ информации, содержащейся в этом сообщении.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ed6e1159d7_0_33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Две структуры речи (Д.  Халперн)</a:t>
            </a:r>
            <a:endParaRPr/>
          </a:p>
        </p:txBody>
      </p:sp>
      <p:sp>
        <p:nvSpPr>
          <p:cNvPr id="574" name="Google Shape;574;g1ed6e1159d7_0_33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Глубинное представление речи имеет отношение к ее смысловому компоненту – это те мысли, которые человек хочет передать.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Поверхностная структура соответствует звукам вербального выражения мыслей или их письменному аналогу, тексту, который может быть представлен на бумаге, экране компьютера или ином материале, предназначенном для письма.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1ed6e1159d7_0_33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pic>
        <p:nvPicPr>
          <p:cNvPr id="580" name="Google Shape;580;g1ed6e1159d7_0_3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988840"/>
            <a:ext cx="7932000" cy="352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ed6e1159d7_0_34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Как улучшить понимание сообщения?</a:t>
            </a:r>
            <a:endParaRPr/>
          </a:p>
        </p:txBody>
      </p:sp>
      <p:sp>
        <p:nvSpPr>
          <p:cNvPr id="586" name="Google Shape;586;g1ed6e1159d7_0_34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Необходимо выстроить свое представление таким образом, чтобы оно максимально точно отражало представление, созданное «адресантом». Если речь отличается неоднозначностью, поверхностной структуре может соответствовать более чем одна смысловая конструкция или глубинное представление.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ed6e1159d7_0_34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Чтение - это</a:t>
            </a:r>
            <a:endParaRPr/>
          </a:p>
        </p:txBody>
      </p:sp>
      <p:sp>
        <p:nvSpPr>
          <p:cNvPr id="592" name="Google Shape;592;g1ed6e1159d7_0_34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приобретение информации из письменных символов.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ed6e1159d7_0_35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Чтение решается системами</a:t>
            </a:r>
            <a:endParaRPr/>
          </a:p>
        </p:txBody>
      </p:sp>
      <p:sp>
        <p:nvSpPr>
          <p:cNvPr id="598" name="Google Shape;598;g1ed6e1159d7_0_352"/>
          <p:cNvSpPr txBox="1"/>
          <p:nvPr>
            <p:ph idx="1" type="body"/>
          </p:nvPr>
        </p:nvSpPr>
        <p:spPr>
          <a:xfrm>
            <a:off x="251520" y="1447800"/>
            <a:ext cx="8568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870"/>
              <a:buNone/>
            </a:pPr>
            <a:r>
              <a:rPr lang="ru-RU" sz="2200"/>
              <a:t>Обнаружения символов       Направления читателя и придание 										символам живость и значение</a:t>
            </a:r>
            <a:endParaRPr sz="2200"/>
          </a:p>
        </p:txBody>
      </p:sp>
      <p:cxnSp>
        <p:nvCxnSpPr>
          <p:cNvPr id="599" name="Google Shape;599;g1ed6e1159d7_0_352"/>
          <p:cNvCxnSpPr/>
          <p:nvPr/>
        </p:nvCxnSpPr>
        <p:spPr>
          <a:xfrm flipH="1">
            <a:off x="1835588" y="1196752"/>
            <a:ext cx="1728300" cy="1728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00" name="Google Shape;600;g1ed6e1159d7_0_352"/>
          <p:cNvCxnSpPr/>
          <p:nvPr/>
        </p:nvCxnSpPr>
        <p:spPr>
          <a:xfrm>
            <a:off x="5868144" y="1196752"/>
            <a:ext cx="1368300" cy="1656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ed6e1159d7_0_35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606" name="Google Shape;606;g1ed6e1159d7_0_359"/>
          <p:cNvSpPr txBox="1"/>
          <p:nvPr>
            <p:ph idx="1" type="body"/>
          </p:nvPr>
        </p:nvSpPr>
        <p:spPr>
          <a:xfrm>
            <a:off x="611560" y="1447800"/>
            <a:ext cx="8075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Французский ученый Эмиль Жаваль обнаружил, что при чтении глаз не движется по напечатанным строчкам, а совершает ряд небольших скачков – саккад, между которыми происходит короткая фиксация.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ed6e1159d7_0_36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612" name="Google Shape;612;g1ed6e1159d7_0_36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Эрдмад и Додж обнаружили, что восприятие зрительных данных происходит во время фиксации, а не во время движения глаза.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ed6e1159d7_0_36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618" name="Google Shape;618;g1ed6e1159d7_0_36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При чтении обычно наблюдаются возвраты глаз к уже прочитанным местам, называемые регрессиями. Подобные регрессии могут составлять до 10 % всех саккад, причем их число положительно коррелирует с субъективной сложностью текста.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1ed6e1159d7_0_37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624" name="Google Shape;624;g1ed6e1159d7_0_37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Существует определенное опережение глазом голоса (eye-voicespan) при чтении вслух: в то время когда мы читаем некоторое слово, наши  глаза  находятся  на  несколько  слов дальше.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Во временном выражении это опережение может достигать более 500 мс.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1ed6e1159d7_0_37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630" name="Google Shape;630;g1ed6e1159d7_0_37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Современные  исследователи  определили,  что  острота  зрения лучше всего для изображений, попадающих на часть сетчатки, называемую фовеа (небольшое углубление на задней стенке глаза).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1ed6e1159d7_0_38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636" name="Google Shape;636;g1ed6e1159d7_0_38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Опознание букв и слов в периферической области, часто происходящее при чтении, объясняется обширными знаниями человека о последовательности букв и слов и его пониманием сути текста (например, скорочтение).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Процесс чтения отражает способность человека быстро формировать гипотезы о тексте, требующие только подтверждения или отрицания его ожиданий, а не подробного подетального анализа каждой буквы.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1ed6e1159d7_0_38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От чего зависит способность формировать правильные гипотезы? </a:t>
            </a:r>
            <a:endParaRPr/>
          </a:p>
        </p:txBody>
      </p:sp>
      <p:sp>
        <p:nvSpPr>
          <p:cNvPr id="642" name="Google Shape;642;g1ed6e1159d7_0_389"/>
          <p:cNvSpPr txBox="1"/>
          <p:nvPr>
            <p:ph idx="1" type="body"/>
          </p:nvPr>
        </p:nvSpPr>
        <p:spPr>
          <a:xfrm>
            <a:off x="685800" y="1461845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контекст,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знаний читателя.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ed6e1159d7_0_39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648" name="Google Shape;648;g1ed6e1159d7_0_399"/>
          <p:cNvSpPr txBox="1"/>
          <p:nvPr>
            <p:ph idx="1" type="body"/>
          </p:nvPr>
        </p:nvSpPr>
        <p:spPr>
          <a:xfrm>
            <a:off x="914400" y="141765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ru-RU" sz="4000">
                <a:solidFill>
                  <a:srgbClr val="FF0000"/>
                </a:solidFill>
              </a:rPr>
              <a:t>По данным исследователей, около 10 % населения  так и не может освоить чтение.</a:t>
            </a:r>
            <a:endParaRPr sz="4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праведливость">
  <a:themeElements>
    <a:clrScheme name="Справедливость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праведливость">
  <a:themeElements>
    <a:clrScheme name="Справедливость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2022-09-30T00:23:34Z</dcterms:created>
  <dc:creator>Julija</dc:creator>
</cp:coreProperties>
</file>